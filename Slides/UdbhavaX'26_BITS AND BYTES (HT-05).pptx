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4" r:id="rId9"/>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61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50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9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29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0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9568238"/>
            <a:ext cx="18288000" cy="718820"/>
          </a:xfrm>
          <a:custGeom>
            <a:avLst/>
            <a:gdLst/>
            <a:ahLst/>
            <a:cxnLst/>
            <a:rect l="l" t="t" r="r" b="b"/>
            <a:pathLst>
              <a:path w="18288000" h="718820">
                <a:moveTo>
                  <a:pt x="18287999" y="718760"/>
                </a:moveTo>
                <a:lnTo>
                  <a:pt x="0" y="718760"/>
                </a:lnTo>
                <a:lnTo>
                  <a:pt x="0" y="0"/>
                </a:lnTo>
                <a:lnTo>
                  <a:pt x="18287999" y="0"/>
                </a:lnTo>
                <a:lnTo>
                  <a:pt x="18287999" y="718760"/>
                </a:lnTo>
                <a:close/>
              </a:path>
            </a:pathLst>
          </a:custGeom>
          <a:solidFill>
            <a:srgbClr val="004AAC"/>
          </a:solidFill>
        </p:spPr>
        <p:txBody>
          <a:bodyPr wrap="square" lIns="0" tIns="0" rIns="0" bIns="0" rtlCol="0"/>
          <a:lstStyle/>
          <a:p>
            <a:endParaRPr/>
          </a:p>
        </p:txBody>
      </p:sp>
      <p:sp>
        <p:nvSpPr>
          <p:cNvPr id="2" name="Holder 2"/>
          <p:cNvSpPr>
            <a:spLocks noGrp="1"/>
          </p:cNvSpPr>
          <p:nvPr>
            <p:ph type="title"/>
          </p:nvPr>
        </p:nvSpPr>
        <p:spPr>
          <a:xfrm>
            <a:off x="3689275" y="537090"/>
            <a:ext cx="10909448" cy="787400"/>
          </a:xfrm>
          <a:prstGeom prst="rect">
            <a:avLst/>
          </a:prstGeom>
        </p:spPr>
        <p:txBody>
          <a:bodyPr wrap="square" lIns="0" tIns="0" rIns="0" bIns="0">
            <a:spAutoFit/>
          </a:bodyPr>
          <a:lstStyle>
            <a:lvl1pPr>
              <a:defRPr sz="50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482417" y="1566956"/>
            <a:ext cx="15005685" cy="4368800"/>
          </a:xfrm>
          <a:prstGeom prst="rect">
            <a:avLst/>
          </a:prstGeom>
        </p:spPr>
        <p:txBody>
          <a:bodyPr wrap="square" lIns="0" tIns="0" rIns="0" bIns="0">
            <a:spAutoFit/>
          </a:bodyPr>
          <a:lstStyle>
            <a:lvl1pPr>
              <a:defRPr sz="29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4/6/2026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mailto:codingclub@sru.edu.in" TargetMode="Externa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hyperlink" Target="mailto:codingclub@sru.edu.i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hyperlink" Target="mailto:codingclub@sru.edu.i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mailto:codingclub@sru.edu.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44807" y="314380"/>
            <a:ext cx="1571624" cy="1078140"/>
          </a:xfrm>
          <a:prstGeom prst="rect">
            <a:avLst/>
          </a:prstGeom>
        </p:spPr>
      </p:pic>
      <p:pic>
        <p:nvPicPr>
          <p:cNvPr id="3" name="object 3"/>
          <p:cNvPicPr/>
          <p:nvPr/>
        </p:nvPicPr>
        <p:blipFill>
          <a:blip r:embed="rId3" cstate="print"/>
          <a:stretch>
            <a:fillRect/>
          </a:stretch>
        </p:blipFill>
        <p:spPr>
          <a:xfrm>
            <a:off x="16705673" y="62340"/>
            <a:ext cx="1523999" cy="1523999"/>
          </a:xfrm>
          <a:prstGeom prst="rect">
            <a:avLst/>
          </a:prstGeom>
        </p:spPr>
      </p:pic>
      <p:sp>
        <p:nvSpPr>
          <p:cNvPr id="4" name="object 4"/>
          <p:cNvSpPr/>
          <p:nvPr/>
        </p:nvSpPr>
        <p:spPr>
          <a:xfrm>
            <a:off x="0" y="2079239"/>
            <a:ext cx="18288000" cy="113664"/>
          </a:xfrm>
          <a:custGeom>
            <a:avLst/>
            <a:gdLst/>
            <a:ahLst/>
            <a:cxnLst/>
            <a:rect l="l" t="t" r="r" b="b"/>
            <a:pathLst>
              <a:path w="18288000" h="113664">
                <a:moveTo>
                  <a:pt x="0" y="113219"/>
                </a:moveTo>
                <a:lnTo>
                  <a:pt x="0" y="17968"/>
                </a:lnTo>
                <a:lnTo>
                  <a:pt x="18288000" y="0"/>
                </a:lnTo>
                <a:lnTo>
                  <a:pt x="18288000" y="95250"/>
                </a:lnTo>
                <a:lnTo>
                  <a:pt x="0" y="113219"/>
                </a:lnTo>
                <a:close/>
              </a:path>
            </a:pathLst>
          </a:custGeom>
          <a:solidFill>
            <a:srgbClr val="004AAC"/>
          </a:solidFill>
        </p:spPr>
        <p:txBody>
          <a:bodyPr wrap="square" lIns="0" tIns="0" rIns="0" bIns="0" rtlCol="0"/>
          <a:lstStyle/>
          <a:p>
            <a:endParaRPr/>
          </a:p>
        </p:txBody>
      </p:sp>
      <p:pic>
        <p:nvPicPr>
          <p:cNvPr id="5" name="object 5"/>
          <p:cNvPicPr/>
          <p:nvPr/>
        </p:nvPicPr>
        <p:blipFill>
          <a:blip r:embed="rId4" cstate="print"/>
          <a:stretch>
            <a:fillRect/>
          </a:stretch>
        </p:blipFill>
        <p:spPr>
          <a:xfrm>
            <a:off x="923235" y="3398126"/>
            <a:ext cx="200025" cy="200024"/>
          </a:xfrm>
          <a:prstGeom prst="rect">
            <a:avLst/>
          </a:prstGeom>
        </p:spPr>
      </p:pic>
      <p:sp>
        <p:nvSpPr>
          <p:cNvPr id="6" name="object 6"/>
          <p:cNvSpPr txBox="1"/>
          <p:nvPr/>
        </p:nvSpPr>
        <p:spPr>
          <a:xfrm>
            <a:off x="1377260" y="2994900"/>
            <a:ext cx="16132810" cy="4915961"/>
          </a:xfrm>
          <a:prstGeom prst="rect">
            <a:avLst/>
          </a:prstGeom>
        </p:spPr>
        <p:txBody>
          <a:bodyPr vert="horz" wrap="square" lIns="0" tIns="12065" rIns="0" bIns="0" rtlCol="0">
            <a:spAutoFit/>
          </a:bodyPr>
          <a:lstStyle/>
          <a:p>
            <a:pPr marL="12700" marR="5080">
              <a:lnSpc>
                <a:spcPct val="116700"/>
              </a:lnSpc>
              <a:spcBef>
                <a:spcPts val="95"/>
              </a:spcBef>
            </a:pPr>
            <a:r>
              <a:rPr sz="4500" i="1" spc="195" dirty="0">
                <a:latin typeface="Arial"/>
                <a:cs typeface="Arial"/>
              </a:rPr>
              <a:t>Project</a:t>
            </a:r>
            <a:r>
              <a:rPr sz="4500" i="1" spc="-204" dirty="0">
                <a:latin typeface="Arial"/>
                <a:cs typeface="Arial"/>
              </a:rPr>
              <a:t> </a:t>
            </a:r>
            <a:r>
              <a:rPr sz="4500" i="1" spc="120" dirty="0">
                <a:latin typeface="Arial"/>
                <a:cs typeface="Arial"/>
              </a:rPr>
              <a:t>Title:</a:t>
            </a:r>
            <a:r>
              <a:rPr lang="en-IN" sz="4500" i="1" spc="120" dirty="0">
                <a:latin typeface="Arial"/>
                <a:cs typeface="Arial"/>
              </a:rPr>
              <a:t> </a:t>
            </a:r>
            <a:r>
              <a:rPr lang="en-US" sz="4800" dirty="0"/>
              <a:t>Mental Health Crisis Triage Bot </a:t>
            </a:r>
            <a:endParaRPr sz="4500" dirty="0">
              <a:latin typeface="Arial"/>
              <a:cs typeface="Arial"/>
            </a:endParaRPr>
          </a:p>
          <a:p>
            <a:pPr marL="12700" marR="7140575">
              <a:lnSpc>
                <a:spcPts val="6300"/>
              </a:lnSpc>
              <a:spcBef>
                <a:spcPts val="360"/>
              </a:spcBef>
            </a:pPr>
            <a:r>
              <a:rPr sz="4500" i="1" spc="185" dirty="0">
                <a:latin typeface="Arial"/>
                <a:cs typeface="Arial"/>
              </a:rPr>
              <a:t>Domain:</a:t>
            </a:r>
            <a:r>
              <a:rPr lang="en-IN" sz="4500" i="1" spc="185" dirty="0">
                <a:latin typeface="Arial"/>
                <a:cs typeface="Arial"/>
              </a:rPr>
              <a:t> </a:t>
            </a:r>
            <a:r>
              <a:rPr sz="4500" i="1" spc="-220" dirty="0">
                <a:latin typeface="Arial"/>
                <a:cs typeface="Arial"/>
              </a:rPr>
              <a:t> </a:t>
            </a:r>
            <a:r>
              <a:rPr lang="en-US" sz="4500" i="1" spc="-120" dirty="0">
                <a:latin typeface="Arial"/>
                <a:cs typeface="Arial"/>
              </a:rPr>
              <a:t>HT-05</a:t>
            </a:r>
            <a:r>
              <a:rPr sz="4500" i="1" spc="-220" dirty="0">
                <a:latin typeface="Arial"/>
                <a:cs typeface="Arial"/>
              </a:rPr>
              <a:t> </a:t>
            </a:r>
            <a:r>
              <a:rPr sz="4500" i="1" spc="190" dirty="0">
                <a:latin typeface="Arial"/>
                <a:cs typeface="Arial"/>
              </a:rPr>
              <a:t>(</a:t>
            </a:r>
            <a:r>
              <a:rPr lang="en-US" sz="4500" i="1" spc="190" dirty="0">
                <a:latin typeface="Arial"/>
                <a:cs typeface="Arial"/>
              </a:rPr>
              <a:t>Health Tech</a:t>
            </a:r>
            <a:r>
              <a:rPr sz="4500" i="1" spc="114" dirty="0">
                <a:latin typeface="Arial"/>
                <a:cs typeface="Arial"/>
              </a:rPr>
              <a:t>) </a:t>
            </a:r>
            <a:r>
              <a:rPr sz="4500" i="1" spc="135" dirty="0">
                <a:latin typeface="Arial"/>
                <a:cs typeface="Arial"/>
              </a:rPr>
              <a:t>Team</a:t>
            </a:r>
            <a:r>
              <a:rPr sz="4500" i="1" spc="-225" dirty="0">
                <a:latin typeface="Arial"/>
                <a:cs typeface="Arial"/>
              </a:rPr>
              <a:t> </a:t>
            </a:r>
            <a:r>
              <a:rPr sz="4500" i="1" spc="145" dirty="0">
                <a:latin typeface="Arial"/>
                <a:cs typeface="Arial"/>
              </a:rPr>
              <a:t>Name:</a:t>
            </a:r>
            <a:r>
              <a:rPr sz="4500" i="1" spc="-225" dirty="0">
                <a:latin typeface="Arial"/>
                <a:cs typeface="Arial"/>
              </a:rPr>
              <a:t> </a:t>
            </a:r>
            <a:r>
              <a:rPr lang="en-US" sz="4500" i="1" spc="195" dirty="0">
                <a:latin typeface="Arial"/>
                <a:cs typeface="Arial"/>
              </a:rPr>
              <a:t>BITS AND BYTES</a:t>
            </a:r>
            <a:endParaRPr lang="en-IN" sz="4500" dirty="0">
              <a:latin typeface="Arial"/>
              <a:cs typeface="Arial"/>
            </a:endParaRPr>
          </a:p>
          <a:p>
            <a:pPr marL="12700" marR="2054225">
              <a:lnSpc>
                <a:spcPts val="6300"/>
              </a:lnSpc>
            </a:pPr>
            <a:r>
              <a:rPr sz="3600" i="1" spc="135" dirty="0">
                <a:latin typeface="Arial"/>
                <a:cs typeface="Arial"/>
              </a:rPr>
              <a:t>Team</a:t>
            </a:r>
            <a:r>
              <a:rPr sz="3600" i="1" spc="-240" dirty="0">
                <a:latin typeface="Arial"/>
                <a:cs typeface="Arial"/>
              </a:rPr>
              <a:t> </a:t>
            </a:r>
            <a:r>
              <a:rPr sz="3600" i="1" spc="140" dirty="0">
                <a:latin typeface="Arial"/>
                <a:cs typeface="Arial"/>
              </a:rPr>
              <a:t>Members</a:t>
            </a:r>
            <a:r>
              <a:rPr lang="en-IN" sz="3600" i="1" spc="140" dirty="0">
                <a:latin typeface="Arial"/>
                <a:cs typeface="Arial"/>
              </a:rPr>
              <a:t>:</a:t>
            </a:r>
            <a:r>
              <a:rPr lang="en-IN" sz="3600" i="1" spc="-229" dirty="0">
                <a:latin typeface="Arial"/>
                <a:cs typeface="Arial"/>
              </a:rPr>
              <a:t> </a:t>
            </a:r>
            <a:r>
              <a:rPr lang="en-IN" sz="2800" b="1" i="1" spc="215" dirty="0">
                <a:latin typeface="Arial"/>
                <a:cs typeface="Arial"/>
              </a:rPr>
              <a:t>A.MANOJ</a:t>
            </a:r>
            <a:r>
              <a:rPr lang="en-IN" sz="2800" b="1" i="1" spc="-125" dirty="0">
                <a:latin typeface="Arial"/>
                <a:cs typeface="Arial"/>
              </a:rPr>
              <a:t>,</a:t>
            </a:r>
            <a:r>
              <a:rPr lang="en-IN" sz="2800" b="1" i="1" spc="-229" dirty="0">
                <a:latin typeface="Arial"/>
                <a:cs typeface="Arial"/>
              </a:rPr>
              <a:t> </a:t>
            </a:r>
            <a:r>
              <a:rPr lang="en-IN" sz="2800" b="1" i="1" spc="210" dirty="0">
                <a:latin typeface="Arial"/>
                <a:cs typeface="Arial"/>
              </a:rPr>
              <a:t>M.KOUSHIK</a:t>
            </a:r>
            <a:r>
              <a:rPr lang="en-IN" sz="2800" b="1" i="1" spc="-80" dirty="0">
                <a:latin typeface="Arial"/>
                <a:cs typeface="Arial"/>
              </a:rPr>
              <a:t>,</a:t>
            </a:r>
            <a:r>
              <a:rPr lang="en-IN" sz="2800" b="1" i="1" spc="-229" dirty="0">
                <a:latin typeface="Arial"/>
                <a:cs typeface="Arial"/>
              </a:rPr>
              <a:t> </a:t>
            </a:r>
            <a:r>
              <a:rPr lang="en-IN" sz="2800" b="1" i="1" spc="210" dirty="0">
                <a:latin typeface="Arial"/>
                <a:cs typeface="Arial"/>
              </a:rPr>
              <a:t>J.RUTHVIK REDDY</a:t>
            </a:r>
            <a:r>
              <a:rPr lang="en-IN" sz="2800" b="1" i="1" dirty="0">
                <a:latin typeface="Arial"/>
                <a:cs typeface="Arial"/>
              </a:rPr>
              <a:t>,</a:t>
            </a:r>
            <a:r>
              <a:rPr lang="en-IN" sz="2800" b="1" i="1" spc="-229" dirty="0">
                <a:latin typeface="Arial"/>
                <a:cs typeface="Arial"/>
              </a:rPr>
              <a:t> </a:t>
            </a:r>
            <a:r>
              <a:rPr lang="en-IN" sz="2800" b="1" i="1" spc="210" dirty="0">
                <a:latin typeface="Arial"/>
                <a:cs typeface="Arial"/>
              </a:rPr>
              <a:t>MD.ELIYAS</a:t>
            </a:r>
            <a:r>
              <a:rPr lang="en-IN" sz="4500" i="1" spc="195" dirty="0">
                <a:latin typeface="Arial"/>
                <a:cs typeface="Arial"/>
              </a:rPr>
              <a:t> </a:t>
            </a:r>
            <a:r>
              <a:rPr lang="en-IN" sz="4500" i="1" spc="245" dirty="0">
                <a:latin typeface="Arial"/>
                <a:cs typeface="Arial"/>
              </a:rPr>
              <a:t>Department:</a:t>
            </a:r>
            <a:r>
              <a:rPr lang="en-IN" sz="4500" i="1" spc="-225" dirty="0">
                <a:latin typeface="Arial"/>
                <a:cs typeface="Arial"/>
              </a:rPr>
              <a:t> </a:t>
            </a:r>
            <a:r>
              <a:rPr lang="en-IN" sz="4500" i="1" spc="150" dirty="0">
                <a:latin typeface="Arial"/>
                <a:cs typeface="Arial"/>
              </a:rPr>
              <a:t>CSE &amp; CSE(AIML)</a:t>
            </a:r>
            <a:endParaRPr lang="en-IN" sz="4500" dirty="0">
              <a:latin typeface="Arial"/>
              <a:cs typeface="Arial"/>
            </a:endParaRPr>
          </a:p>
          <a:p>
            <a:pPr marL="12700">
              <a:lnSpc>
                <a:spcPct val="100000"/>
              </a:lnSpc>
              <a:spcBef>
                <a:spcPts val="540"/>
              </a:spcBef>
            </a:pPr>
            <a:r>
              <a:rPr sz="4500" i="1" spc="105" dirty="0">
                <a:latin typeface="Arial"/>
                <a:cs typeface="Arial"/>
              </a:rPr>
              <a:t>Event:</a:t>
            </a:r>
            <a:r>
              <a:rPr sz="4500" i="1" spc="-225" dirty="0">
                <a:latin typeface="Arial"/>
                <a:cs typeface="Arial"/>
              </a:rPr>
              <a:t> </a:t>
            </a:r>
            <a:r>
              <a:rPr sz="4500" i="1" spc="260" dirty="0">
                <a:latin typeface="Arial"/>
                <a:cs typeface="Arial"/>
              </a:rPr>
              <a:t>Udbhava</a:t>
            </a:r>
            <a:r>
              <a:rPr sz="4500" i="1" spc="-210" dirty="0">
                <a:latin typeface="Arial"/>
                <a:cs typeface="Arial"/>
              </a:rPr>
              <a:t> </a:t>
            </a:r>
            <a:r>
              <a:rPr sz="4500" i="1" dirty="0">
                <a:latin typeface="Arial"/>
                <a:cs typeface="Arial"/>
              </a:rPr>
              <a:t>X’26,</a:t>
            </a:r>
            <a:r>
              <a:rPr sz="4500" i="1" spc="-210" dirty="0">
                <a:latin typeface="Arial"/>
                <a:cs typeface="Arial"/>
              </a:rPr>
              <a:t> </a:t>
            </a:r>
            <a:r>
              <a:rPr sz="4500" i="1" spc="120" dirty="0">
                <a:latin typeface="Arial"/>
                <a:cs typeface="Arial"/>
              </a:rPr>
              <a:t>Coding</a:t>
            </a:r>
            <a:r>
              <a:rPr sz="4500" i="1" spc="-210" dirty="0">
                <a:latin typeface="Arial"/>
                <a:cs typeface="Arial"/>
              </a:rPr>
              <a:t> </a:t>
            </a:r>
            <a:r>
              <a:rPr sz="4500" i="1" spc="165" dirty="0">
                <a:latin typeface="Arial"/>
                <a:cs typeface="Arial"/>
              </a:rPr>
              <a:t>Club</a:t>
            </a:r>
            <a:r>
              <a:rPr sz="4500" i="1" spc="-210" dirty="0">
                <a:latin typeface="Arial"/>
                <a:cs typeface="Arial"/>
              </a:rPr>
              <a:t> </a:t>
            </a:r>
            <a:r>
              <a:rPr sz="4500" i="1" spc="-305" dirty="0">
                <a:latin typeface="Arial"/>
                <a:cs typeface="Arial"/>
              </a:rPr>
              <a:t>SR</a:t>
            </a:r>
            <a:r>
              <a:rPr sz="4500" i="1" spc="-210" dirty="0">
                <a:latin typeface="Arial"/>
                <a:cs typeface="Arial"/>
              </a:rPr>
              <a:t> </a:t>
            </a:r>
            <a:r>
              <a:rPr sz="4500" i="1" spc="180" dirty="0">
                <a:latin typeface="Arial"/>
                <a:cs typeface="Arial"/>
              </a:rPr>
              <a:t>University</a:t>
            </a:r>
            <a:endParaRPr sz="4500" dirty="0">
              <a:latin typeface="Arial"/>
              <a:cs typeface="Arial"/>
            </a:endParaRPr>
          </a:p>
        </p:txBody>
      </p:sp>
      <p:pic>
        <p:nvPicPr>
          <p:cNvPr id="7" name="object 7"/>
          <p:cNvPicPr/>
          <p:nvPr/>
        </p:nvPicPr>
        <p:blipFill>
          <a:blip r:embed="rId4" cstate="print"/>
          <a:stretch>
            <a:fillRect/>
          </a:stretch>
        </p:blipFill>
        <p:spPr>
          <a:xfrm>
            <a:off x="923235" y="4998326"/>
            <a:ext cx="200025" cy="200024"/>
          </a:xfrm>
          <a:prstGeom prst="rect">
            <a:avLst/>
          </a:prstGeom>
        </p:spPr>
      </p:pic>
      <p:pic>
        <p:nvPicPr>
          <p:cNvPr id="8" name="object 8"/>
          <p:cNvPicPr/>
          <p:nvPr/>
        </p:nvPicPr>
        <p:blipFill>
          <a:blip r:embed="rId4" cstate="print"/>
          <a:stretch>
            <a:fillRect/>
          </a:stretch>
        </p:blipFill>
        <p:spPr>
          <a:xfrm>
            <a:off x="923235" y="5798426"/>
            <a:ext cx="200025" cy="200024"/>
          </a:xfrm>
          <a:prstGeom prst="rect">
            <a:avLst/>
          </a:prstGeom>
        </p:spPr>
      </p:pic>
      <p:pic>
        <p:nvPicPr>
          <p:cNvPr id="10" name="object 10"/>
          <p:cNvPicPr/>
          <p:nvPr/>
        </p:nvPicPr>
        <p:blipFill>
          <a:blip r:embed="rId4" cstate="print"/>
          <a:stretch>
            <a:fillRect/>
          </a:stretch>
        </p:blipFill>
        <p:spPr>
          <a:xfrm>
            <a:off x="923235" y="7398625"/>
            <a:ext cx="200025" cy="200024"/>
          </a:xfrm>
          <a:prstGeom prst="rect">
            <a:avLst/>
          </a:prstGeom>
        </p:spPr>
      </p:pic>
      <p:pic>
        <p:nvPicPr>
          <p:cNvPr id="11" name="object 11"/>
          <p:cNvPicPr/>
          <p:nvPr/>
        </p:nvPicPr>
        <p:blipFill>
          <a:blip r:embed="rId4" cstate="print"/>
          <a:stretch>
            <a:fillRect/>
          </a:stretch>
        </p:blipFill>
        <p:spPr>
          <a:xfrm>
            <a:off x="923234" y="6593220"/>
            <a:ext cx="200025" cy="200024"/>
          </a:xfrm>
          <a:prstGeom prst="rect">
            <a:avLst/>
          </a:prstGeom>
        </p:spPr>
      </p:pic>
      <p:sp>
        <p:nvSpPr>
          <p:cNvPr id="12" name="object 12"/>
          <p:cNvSpPr txBox="1">
            <a:spLocks noGrp="1"/>
          </p:cNvSpPr>
          <p:nvPr>
            <p:ph type="title"/>
          </p:nvPr>
        </p:nvSpPr>
        <p:spPr>
          <a:xfrm>
            <a:off x="5470341" y="78171"/>
            <a:ext cx="7385684" cy="1549400"/>
          </a:xfrm>
          <a:prstGeom prst="rect">
            <a:avLst/>
          </a:prstGeom>
        </p:spPr>
        <p:txBody>
          <a:bodyPr vert="horz" wrap="square" lIns="0" tIns="12700" rIns="0" bIns="0" rtlCol="0">
            <a:spAutoFit/>
          </a:bodyPr>
          <a:lstStyle/>
          <a:p>
            <a:pPr marL="12700">
              <a:lnSpc>
                <a:spcPct val="100000"/>
              </a:lnSpc>
              <a:spcBef>
                <a:spcPts val="100"/>
              </a:spcBef>
            </a:pPr>
            <a:r>
              <a:rPr sz="10000" spc="330" dirty="0">
                <a:solidFill>
                  <a:srgbClr val="004AAC"/>
                </a:solidFill>
                <a:latin typeface="Times New Roman"/>
                <a:cs typeface="Times New Roman"/>
              </a:rPr>
              <a:t>Ud</a:t>
            </a:r>
            <a:r>
              <a:rPr sz="10000" dirty="0">
                <a:solidFill>
                  <a:srgbClr val="004AAC"/>
                </a:solidFill>
                <a:latin typeface="Times New Roman"/>
                <a:cs typeface="Times New Roman"/>
              </a:rPr>
              <a:t>b</a:t>
            </a:r>
            <a:r>
              <a:rPr sz="10000" spc="330" dirty="0">
                <a:solidFill>
                  <a:srgbClr val="004AAC"/>
                </a:solidFill>
                <a:latin typeface="Times New Roman"/>
                <a:cs typeface="Times New Roman"/>
              </a:rPr>
              <a:t>h</a:t>
            </a:r>
            <a:r>
              <a:rPr sz="10000" spc="-340" dirty="0">
                <a:solidFill>
                  <a:srgbClr val="004AAC"/>
                </a:solidFill>
                <a:latin typeface="Times New Roman"/>
                <a:cs typeface="Times New Roman"/>
              </a:rPr>
              <a:t>a</a:t>
            </a:r>
            <a:r>
              <a:rPr sz="10000" spc="130" dirty="0">
                <a:solidFill>
                  <a:srgbClr val="004AAC"/>
                </a:solidFill>
                <a:latin typeface="Times New Roman"/>
                <a:cs typeface="Times New Roman"/>
              </a:rPr>
              <a:t>v</a:t>
            </a:r>
            <a:r>
              <a:rPr sz="10000" spc="330" dirty="0">
                <a:solidFill>
                  <a:srgbClr val="004AAC"/>
                </a:solidFill>
                <a:latin typeface="Times New Roman"/>
                <a:cs typeface="Times New Roman"/>
              </a:rPr>
              <a:t>aX</a:t>
            </a:r>
            <a:r>
              <a:rPr sz="10000" spc="325" dirty="0">
                <a:solidFill>
                  <a:srgbClr val="004AAC"/>
                </a:solidFill>
                <a:latin typeface="Times New Roman"/>
                <a:cs typeface="Times New Roman"/>
              </a:rPr>
              <a:t>'</a:t>
            </a:r>
            <a:r>
              <a:rPr sz="10000" spc="330" dirty="0">
                <a:solidFill>
                  <a:srgbClr val="004AAC"/>
                </a:solidFill>
                <a:latin typeface="Times New Roman"/>
                <a:cs typeface="Times New Roman"/>
              </a:rPr>
              <a:t>2</a:t>
            </a:r>
            <a:r>
              <a:rPr sz="10000" spc="335" dirty="0">
                <a:solidFill>
                  <a:srgbClr val="004AAC"/>
                </a:solidFill>
                <a:latin typeface="Times New Roman"/>
                <a:cs typeface="Times New Roman"/>
              </a:rPr>
              <a:t>6</a:t>
            </a:r>
            <a:endParaRPr sz="10000" dirty="0">
              <a:latin typeface="Times New Roman"/>
              <a:cs typeface="Times New Roman"/>
            </a:endParaRPr>
          </a:p>
        </p:txBody>
      </p:sp>
      <p:grpSp>
        <p:nvGrpSpPr>
          <p:cNvPr id="13" name="object 13"/>
          <p:cNvGrpSpPr/>
          <p:nvPr/>
        </p:nvGrpSpPr>
        <p:grpSpPr>
          <a:xfrm>
            <a:off x="6347447" y="9626432"/>
            <a:ext cx="638175" cy="638175"/>
            <a:chOff x="6347447" y="9626432"/>
            <a:chExt cx="638175" cy="638175"/>
          </a:xfrm>
        </p:grpSpPr>
        <p:sp>
          <p:nvSpPr>
            <p:cNvPr id="14" name="object 14"/>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15" name="object 15"/>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6" name="object 16"/>
          <p:cNvSpPr txBox="1"/>
          <p:nvPr/>
        </p:nvSpPr>
        <p:spPr>
          <a:xfrm>
            <a:off x="7043125" y="9657009"/>
            <a:ext cx="4201795" cy="487954"/>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5"/>
              </a:rPr>
              <a:t>codingclub@sru.edu.in</a:t>
            </a:r>
            <a:endParaRPr sz="2900" dirty="0">
              <a:latin typeface="Arial Black"/>
              <a:cs typeface="Arial Black"/>
            </a:endParaRPr>
          </a:p>
        </p:txBody>
      </p:sp>
      <p:pic>
        <p:nvPicPr>
          <p:cNvPr id="17" name="object 11">
            <a:extLst>
              <a:ext uri="{FF2B5EF4-FFF2-40B4-BE49-F238E27FC236}">
                <a16:creationId xmlns:a16="http://schemas.microsoft.com/office/drawing/2014/main" id="{460B7323-45E2-B642-C4A8-2B7FAA3507B4}"/>
              </a:ext>
            </a:extLst>
          </p:cNvPr>
          <p:cNvPicPr/>
          <p:nvPr/>
        </p:nvPicPr>
        <p:blipFill>
          <a:blip r:embed="rId4" cstate="print"/>
          <a:stretch>
            <a:fillRect/>
          </a:stretch>
        </p:blipFill>
        <p:spPr>
          <a:xfrm>
            <a:off x="923234" y="4200879"/>
            <a:ext cx="200025" cy="2000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51740" y="182681"/>
            <a:ext cx="1514474" cy="1514474"/>
          </a:xfrm>
          <a:prstGeom prst="rect">
            <a:avLst/>
          </a:prstGeom>
        </p:spPr>
      </p:pic>
      <p:pic>
        <p:nvPicPr>
          <p:cNvPr id="6" name="object 6"/>
          <p:cNvPicPr/>
          <p:nvPr/>
        </p:nvPicPr>
        <p:blipFill>
          <a:blip r:embed="rId3" cstate="print"/>
          <a:stretch>
            <a:fillRect/>
          </a:stretch>
        </p:blipFill>
        <p:spPr>
          <a:xfrm>
            <a:off x="244807" y="314380"/>
            <a:ext cx="1571624" cy="1078140"/>
          </a:xfrm>
          <a:prstGeom prst="rect">
            <a:avLst/>
          </a:prstGeom>
        </p:spPr>
      </p:pic>
      <p:grpSp>
        <p:nvGrpSpPr>
          <p:cNvPr id="7" name="object 7"/>
          <p:cNvGrpSpPr/>
          <p:nvPr/>
        </p:nvGrpSpPr>
        <p:grpSpPr>
          <a:xfrm>
            <a:off x="6347447" y="9626432"/>
            <a:ext cx="638175" cy="638175"/>
            <a:chOff x="6347447" y="9626432"/>
            <a:chExt cx="638175" cy="638175"/>
          </a:xfrm>
        </p:grpSpPr>
        <p:sp>
          <p:nvSpPr>
            <p:cNvPr id="8" name="object 8"/>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9" name="object 9"/>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0" name="object 10"/>
          <p:cNvSpPr txBox="1"/>
          <p:nvPr/>
        </p:nvSpPr>
        <p:spPr>
          <a:xfrm>
            <a:off x="275287" y="2281930"/>
            <a:ext cx="9848215" cy="6841168"/>
          </a:xfrm>
          <a:prstGeom prst="rect">
            <a:avLst/>
          </a:prstGeom>
        </p:spPr>
        <p:txBody>
          <a:bodyPr vert="horz" wrap="square" lIns="0" tIns="86995" rIns="0" bIns="0" rtlCol="0">
            <a:spAutoFit/>
          </a:bodyPr>
          <a:lstStyle/>
          <a:p>
            <a:pPr marL="12700" marR="5080" algn="just">
              <a:lnSpc>
                <a:spcPct val="115199"/>
              </a:lnSpc>
            </a:pPr>
            <a:r>
              <a:rPr lang="en-US" sz="2400" dirty="0">
                <a:latin typeface="Verdana"/>
                <a:cs typeface="Verdana"/>
              </a:rPr>
              <a:t>Mental health helplines serve as a critical support system for people experiencing </a:t>
            </a:r>
            <a:r>
              <a:rPr lang="en-US" sz="2400" b="1" dirty="0">
                <a:latin typeface="Verdana"/>
                <a:cs typeface="Verdana"/>
              </a:rPr>
              <a:t>stress, anxiety, panic attacks, trauma, and even suicidal thoughts</a:t>
            </a:r>
            <a:r>
              <a:rPr lang="en-US" sz="2400" dirty="0">
                <a:latin typeface="Verdana"/>
                <a:cs typeface="Verdana"/>
              </a:rPr>
              <a:t>. Every day, large numbers of users reach out expecting immediate emotional support and crisis intervention. These helplines must handle callers with very different levels of urgency, from mild distress to life-threatening emergencies.</a:t>
            </a:r>
          </a:p>
          <a:p>
            <a:pPr marL="12700" marR="5080" algn="just">
              <a:lnSpc>
                <a:spcPct val="115199"/>
              </a:lnSpc>
            </a:pPr>
            <a:endParaRPr lang="en-US" sz="2400" spc="-225" dirty="0">
              <a:latin typeface="Verdana"/>
              <a:cs typeface="Verdana"/>
            </a:endParaRPr>
          </a:p>
          <a:p>
            <a:pPr marL="12700" marR="5080" algn="just">
              <a:lnSpc>
                <a:spcPct val="115199"/>
              </a:lnSpc>
            </a:pPr>
            <a:endParaRPr lang="en-US" sz="2400" spc="-225" dirty="0">
              <a:latin typeface="Verdana"/>
              <a:cs typeface="Verdana"/>
            </a:endParaRPr>
          </a:p>
          <a:p>
            <a:pPr marL="12700" marR="5080" algn="just">
              <a:lnSpc>
                <a:spcPct val="115199"/>
              </a:lnSpc>
            </a:pPr>
            <a:r>
              <a:rPr lang="en-US" sz="2400" spc="-225" dirty="0">
                <a:latin typeface="Verdana"/>
                <a:cs typeface="Verdana"/>
                <a:sym typeface="Wingdings" panose="05000000000000000000" pitchFamily="2" charset="2"/>
              </a:rPr>
              <a:t> </a:t>
            </a:r>
            <a:r>
              <a:rPr lang="en-US" sz="2400" spc="-225" dirty="0">
                <a:latin typeface="Verdana"/>
                <a:cs typeface="Verdana"/>
              </a:rPr>
              <a:t>Most helplines still operate on a basic first-come, first-served model, without structured triage or intelligent prioritization.</a:t>
            </a:r>
          </a:p>
          <a:p>
            <a:pPr marL="12700" marR="5080" algn="just">
              <a:lnSpc>
                <a:spcPct val="115199"/>
              </a:lnSpc>
            </a:pPr>
            <a:r>
              <a:rPr lang="en-US" sz="2400" spc="-225" dirty="0">
                <a:latin typeface="Verdana"/>
                <a:cs typeface="Verdana"/>
                <a:sym typeface="Wingdings" panose="05000000000000000000" pitchFamily="2" charset="2"/>
              </a:rPr>
              <a:t> </a:t>
            </a:r>
            <a:r>
              <a:rPr lang="en-US" sz="2400" spc="-225" dirty="0">
                <a:latin typeface="Verdana"/>
                <a:cs typeface="Verdana"/>
              </a:rPr>
              <a:t>As a result, low-risk callers may be attended to before someone in acute crisis. Counselors also receive little or no background context before speaking with a user, which wastes valuable time on repeated intake questions.</a:t>
            </a:r>
          </a:p>
          <a:p>
            <a:pPr marL="12700" marR="5080" algn="just">
              <a:lnSpc>
                <a:spcPct val="115199"/>
              </a:lnSpc>
            </a:pPr>
            <a:r>
              <a:rPr lang="en-US" sz="2400" spc="-225" dirty="0">
                <a:latin typeface="Verdana"/>
                <a:cs typeface="Verdana"/>
                <a:sym typeface="Wingdings" panose="05000000000000000000" pitchFamily="2" charset="2"/>
              </a:rPr>
              <a:t> </a:t>
            </a:r>
            <a:r>
              <a:rPr lang="en-US" sz="2400" spc="-225" dirty="0">
                <a:latin typeface="Verdana"/>
                <a:cs typeface="Verdana"/>
              </a:rPr>
              <a:t>This creates an overloaded, inefficient, and unsafe system where high-risk individuals may be delayed, mismanaged, or overlooked.</a:t>
            </a:r>
            <a:endParaRPr sz="2400" dirty="0">
              <a:latin typeface="Verdana"/>
              <a:cs typeface="Verdana"/>
            </a:endParaRPr>
          </a:p>
        </p:txBody>
      </p:sp>
      <p:sp>
        <p:nvSpPr>
          <p:cNvPr id="12" name="object 12"/>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
        <p:nvSpPr>
          <p:cNvPr id="11" name="object 11"/>
          <p:cNvSpPr txBox="1">
            <a:spLocks noGrp="1"/>
          </p:cNvSpPr>
          <p:nvPr>
            <p:ph type="title"/>
          </p:nvPr>
        </p:nvSpPr>
        <p:spPr>
          <a:prstGeom prst="rect">
            <a:avLst/>
          </a:prstGeom>
        </p:spPr>
        <p:txBody>
          <a:bodyPr vert="horz" wrap="square" lIns="0" tIns="12700" rIns="0" bIns="0" rtlCol="0">
            <a:spAutoFit/>
          </a:bodyPr>
          <a:lstStyle/>
          <a:p>
            <a:pPr marL="2776855">
              <a:lnSpc>
                <a:spcPct val="100000"/>
              </a:lnSpc>
              <a:spcBef>
                <a:spcPts val="100"/>
              </a:spcBef>
            </a:pPr>
            <a:r>
              <a:rPr spc="-280" dirty="0"/>
              <a:t>Problem</a:t>
            </a:r>
            <a:r>
              <a:rPr spc="-465" dirty="0"/>
              <a:t> </a:t>
            </a:r>
            <a:r>
              <a:rPr spc="-375" dirty="0"/>
              <a:t>Scenario</a:t>
            </a:r>
          </a:p>
        </p:txBody>
      </p:sp>
      <p:sp>
        <p:nvSpPr>
          <p:cNvPr id="13" name="TextBox 12">
            <a:extLst>
              <a:ext uri="{FF2B5EF4-FFF2-40B4-BE49-F238E27FC236}">
                <a16:creationId xmlns:a16="http://schemas.microsoft.com/office/drawing/2014/main" id="{58C6F8F2-55D5-29AC-B03F-4136B868BF09}"/>
              </a:ext>
            </a:extLst>
          </p:cNvPr>
          <p:cNvSpPr txBox="1"/>
          <p:nvPr/>
        </p:nvSpPr>
        <p:spPr>
          <a:xfrm>
            <a:off x="275287" y="1697155"/>
            <a:ext cx="5134913" cy="584775"/>
          </a:xfrm>
          <a:prstGeom prst="rect">
            <a:avLst/>
          </a:prstGeom>
          <a:noFill/>
        </p:spPr>
        <p:txBody>
          <a:bodyPr wrap="square" rtlCol="0">
            <a:spAutoFit/>
          </a:bodyPr>
          <a:lstStyle/>
          <a:p>
            <a:r>
              <a:rPr lang="en-US" sz="3200" b="1" u="sng" dirty="0"/>
              <a:t>The Real World Situation:</a:t>
            </a:r>
            <a:endParaRPr lang="en-IN" sz="3200" b="1" u="sng" dirty="0"/>
          </a:p>
        </p:txBody>
      </p:sp>
      <p:sp>
        <p:nvSpPr>
          <p:cNvPr id="14" name="TextBox 13">
            <a:extLst>
              <a:ext uri="{FF2B5EF4-FFF2-40B4-BE49-F238E27FC236}">
                <a16:creationId xmlns:a16="http://schemas.microsoft.com/office/drawing/2014/main" id="{47E6146C-FA1A-5A69-F857-E482612A45F8}"/>
              </a:ext>
            </a:extLst>
          </p:cNvPr>
          <p:cNvSpPr txBox="1"/>
          <p:nvPr/>
        </p:nvSpPr>
        <p:spPr>
          <a:xfrm>
            <a:off x="229567" y="5484343"/>
            <a:ext cx="5134913" cy="584775"/>
          </a:xfrm>
          <a:prstGeom prst="rect">
            <a:avLst/>
          </a:prstGeom>
          <a:noFill/>
        </p:spPr>
        <p:txBody>
          <a:bodyPr wrap="square" rtlCol="0">
            <a:spAutoFit/>
          </a:bodyPr>
          <a:lstStyle/>
          <a:p>
            <a:r>
              <a:rPr lang="en-US" sz="3200" b="1" u="sng" dirty="0"/>
              <a:t>The Current Failure:</a:t>
            </a:r>
            <a:endParaRPr lang="en-IN" sz="3200" b="1" u="sng" dirty="0"/>
          </a:p>
        </p:txBody>
      </p:sp>
      <p:pic>
        <p:nvPicPr>
          <p:cNvPr id="16" name="Picture 15">
            <a:extLst>
              <a:ext uri="{FF2B5EF4-FFF2-40B4-BE49-F238E27FC236}">
                <a16:creationId xmlns:a16="http://schemas.microsoft.com/office/drawing/2014/main" id="{8A223BAD-A539-C237-2E16-103D8D83BA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45489" y="2231066"/>
            <a:ext cx="7520725" cy="50047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42900" y="2294944"/>
            <a:ext cx="16990060" cy="5623399"/>
          </a:xfrm>
          <a:prstGeom prst="rect">
            <a:avLst/>
          </a:prstGeom>
        </p:spPr>
        <p:txBody>
          <a:bodyPr vert="horz" wrap="square" lIns="0" tIns="12065" rIns="0" bIns="0" rtlCol="0">
            <a:spAutoFit/>
          </a:bodyPr>
          <a:lstStyle/>
          <a:p>
            <a:pPr marL="12700" marR="5080">
              <a:lnSpc>
                <a:spcPct val="116100"/>
              </a:lnSpc>
              <a:spcBef>
                <a:spcPts val="95"/>
              </a:spcBef>
            </a:pPr>
            <a:r>
              <a:rPr lang="en-US" sz="3500" spc="-75" dirty="0">
                <a:latin typeface="Verdana"/>
                <a:cs typeface="Verdana"/>
                <a:sym typeface="Wingdings" panose="05000000000000000000" pitchFamily="2" charset="2"/>
              </a:rPr>
              <a:t></a:t>
            </a:r>
            <a:r>
              <a:rPr lang="en-US" sz="3500" spc="-75" dirty="0">
                <a:latin typeface="Verdana"/>
                <a:cs typeface="Verdana"/>
              </a:rPr>
              <a:t>No intelligent triage, so urgent and non-urgent cases are treated the same.</a:t>
            </a:r>
          </a:p>
          <a:p>
            <a:pPr marL="12700" marR="5080">
              <a:lnSpc>
                <a:spcPct val="116100"/>
              </a:lnSpc>
              <a:spcBef>
                <a:spcPts val="95"/>
              </a:spcBef>
            </a:pPr>
            <a:r>
              <a:rPr lang="en-US" sz="3500" spc="-75" dirty="0">
                <a:latin typeface="Verdana"/>
                <a:cs typeface="Verdana"/>
                <a:sym typeface="Wingdings" panose="05000000000000000000" pitchFamily="2" charset="2"/>
              </a:rPr>
              <a:t></a:t>
            </a:r>
            <a:r>
              <a:rPr lang="en-US" sz="3500" spc="-75" dirty="0">
                <a:latin typeface="Verdana"/>
                <a:cs typeface="Verdana"/>
              </a:rPr>
              <a:t>High-risk users can be </a:t>
            </a:r>
            <a:r>
              <a:rPr lang="en-US" sz="3500" b="1" spc="-75" dirty="0">
                <a:latin typeface="Verdana"/>
                <a:cs typeface="Verdana"/>
              </a:rPr>
              <a:t>delayed </a:t>
            </a:r>
            <a:r>
              <a:rPr lang="en-US" sz="3500" spc="-75" dirty="0">
                <a:latin typeface="Verdana"/>
                <a:cs typeface="Verdana"/>
              </a:rPr>
              <a:t>or</a:t>
            </a:r>
            <a:r>
              <a:rPr lang="en-US" sz="3500" b="1" spc="-75" dirty="0">
                <a:latin typeface="Verdana"/>
                <a:cs typeface="Verdana"/>
              </a:rPr>
              <a:t> overlooked </a:t>
            </a:r>
            <a:r>
              <a:rPr lang="en-US" sz="3500" spc="-75" dirty="0">
                <a:latin typeface="Verdana"/>
                <a:cs typeface="Verdana"/>
              </a:rPr>
              <a:t>in a first-come, first-served system.</a:t>
            </a:r>
          </a:p>
          <a:p>
            <a:pPr marL="12700" marR="5080">
              <a:lnSpc>
                <a:spcPct val="116100"/>
              </a:lnSpc>
              <a:spcBef>
                <a:spcPts val="95"/>
              </a:spcBef>
            </a:pPr>
            <a:r>
              <a:rPr lang="en-US" sz="3500" spc="-75" dirty="0">
                <a:latin typeface="Verdana"/>
                <a:cs typeface="Verdana"/>
                <a:sym typeface="Wingdings" panose="05000000000000000000" pitchFamily="2" charset="2"/>
              </a:rPr>
              <a:t></a:t>
            </a:r>
            <a:r>
              <a:rPr lang="en-US" sz="3500" spc="-75" dirty="0">
                <a:latin typeface="Verdana"/>
                <a:cs typeface="Verdana"/>
              </a:rPr>
              <a:t>Counselors lack prior context, </a:t>
            </a:r>
            <a:r>
              <a:rPr lang="en-US" sz="3500" b="1" spc="-75" dirty="0">
                <a:latin typeface="Verdana"/>
                <a:cs typeface="Verdana"/>
              </a:rPr>
              <a:t>wasting critical time </a:t>
            </a:r>
            <a:r>
              <a:rPr lang="en-US" sz="3500" spc="-75" dirty="0">
                <a:latin typeface="Verdana"/>
                <a:cs typeface="Verdana"/>
              </a:rPr>
              <a:t>on basic intake questions.</a:t>
            </a:r>
          </a:p>
          <a:p>
            <a:pPr marL="12700" marR="5080">
              <a:lnSpc>
                <a:spcPct val="116100"/>
              </a:lnSpc>
              <a:spcBef>
                <a:spcPts val="95"/>
              </a:spcBef>
            </a:pPr>
            <a:r>
              <a:rPr lang="en-US" sz="3500" spc="-75" dirty="0">
                <a:latin typeface="Verdana"/>
                <a:cs typeface="Verdana"/>
                <a:sym typeface="Wingdings" panose="05000000000000000000" pitchFamily="2" charset="2"/>
              </a:rPr>
              <a:t></a:t>
            </a:r>
            <a:r>
              <a:rPr lang="en-US" sz="3500" spc="-75" dirty="0">
                <a:latin typeface="Verdana"/>
                <a:cs typeface="Verdana"/>
              </a:rPr>
              <a:t>No structured session history to track </a:t>
            </a:r>
            <a:r>
              <a:rPr lang="en-US" sz="3500" b="1" spc="-75" dirty="0">
                <a:latin typeface="Verdana"/>
                <a:cs typeface="Verdana"/>
              </a:rPr>
              <a:t>repeat crises </a:t>
            </a:r>
            <a:r>
              <a:rPr lang="en-US" sz="3500" spc="-75" dirty="0">
                <a:latin typeface="Verdana"/>
                <a:cs typeface="Verdana"/>
              </a:rPr>
              <a:t>or worsening mental health.</a:t>
            </a:r>
          </a:p>
          <a:p>
            <a:pPr marL="12700" marR="5080">
              <a:lnSpc>
                <a:spcPct val="116100"/>
              </a:lnSpc>
              <a:spcBef>
                <a:spcPts val="95"/>
              </a:spcBef>
            </a:pPr>
            <a:r>
              <a:rPr lang="en-US" sz="3500" spc="-75" dirty="0">
                <a:latin typeface="Verdana"/>
                <a:cs typeface="Verdana"/>
                <a:sym typeface="Wingdings" panose="05000000000000000000" pitchFamily="2" charset="2"/>
              </a:rPr>
              <a:t></a:t>
            </a:r>
            <a:r>
              <a:rPr lang="en-US" sz="3500" b="1" spc="-75" dirty="0">
                <a:latin typeface="Verdana"/>
                <a:cs typeface="Verdana"/>
              </a:rPr>
              <a:t>No usable data</a:t>
            </a:r>
            <a:r>
              <a:rPr lang="en-US" sz="3500" spc="-75" dirty="0">
                <a:latin typeface="Verdana"/>
                <a:cs typeface="Verdana"/>
              </a:rPr>
              <a:t> to identify trends, improve response time, or manage workload.</a:t>
            </a:r>
            <a:endParaRPr sz="3500" dirty="0">
              <a:latin typeface="Verdana"/>
              <a:cs typeface="Verdana"/>
            </a:endParaRPr>
          </a:p>
        </p:txBody>
      </p:sp>
      <p:pic>
        <p:nvPicPr>
          <p:cNvPr id="7" name="object 7"/>
          <p:cNvPicPr/>
          <p:nvPr/>
        </p:nvPicPr>
        <p:blipFill>
          <a:blip r:embed="rId2" cstate="print"/>
          <a:stretch>
            <a:fillRect/>
          </a:stretch>
        </p:blipFill>
        <p:spPr>
          <a:xfrm>
            <a:off x="16551740" y="182681"/>
            <a:ext cx="1514474" cy="1514474"/>
          </a:xfrm>
          <a:prstGeom prst="rect">
            <a:avLst/>
          </a:prstGeom>
        </p:spPr>
      </p:pic>
      <p:sp>
        <p:nvSpPr>
          <p:cNvPr id="8" name="object 8"/>
          <p:cNvSpPr txBox="1">
            <a:spLocks noGrp="1"/>
          </p:cNvSpPr>
          <p:nvPr>
            <p:ph type="title"/>
          </p:nvPr>
        </p:nvSpPr>
        <p:spPr>
          <a:xfrm>
            <a:off x="3805336" y="660463"/>
            <a:ext cx="10827385" cy="787400"/>
          </a:xfrm>
          <a:prstGeom prst="rect">
            <a:avLst/>
          </a:prstGeom>
        </p:spPr>
        <p:txBody>
          <a:bodyPr vert="horz" wrap="square" lIns="0" tIns="12700" rIns="0" bIns="0" rtlCol="0">
            <a:spAutoFit/>
          </a:bodyPr>
          <a:lstStyle/>
          <a:p>
            <a:pPr marL="12700">
              <a:lnSpc>
                <a:spcPct val="100000"/>
              </a:lnSpc>
              <a:spcBef>
                <a:spcPts val="100"/>
              </a:spcBef>
            </a:pPr>
            <a:r>
              <a:rPr u="sng" spc="-254" dirty="0"/>
              <a:t>Current</a:t>
            </a:r>
            <a:r>
              <a:rPr u="sng" spc="-475" dirty="0"/>
              <a:t> </a:t>
            </a:r>
            <a:r>
              <a:rPr u="sng" spc="-360" dirty="0"/>
              <a:t>Pain</a:t>
            </a:r>
            <a:r>
              <a:rPr u="sng" spc="-475" dirty="0"/>
              <a:t> </a:t>
            </a:r>
            <a:r>
              <a:rPr u="sng" spc="-320" dirty="0"/>
              <a:t>Points</a:t>
            </a:r>
            <a:r>
              <a:rPr u="sng" spc="-470" dirty="0"/>
              <a:t> </a:t>
            </a:r>
            <a:r>
              <a:rPr u="sng" spc="-245" dirty="0"/>
              <a:t>(Why</a:t>
            </a:r>
            <a:r>
              <a:rPr u="sng" spc="-475" dirty="0"/>
              <a:t> </a:t>
            </a:r>
            <a:r>
              <a:rPr u="sng" spc="-185" dirty="0"/>
              <a:t>it</a:t>
            </a:r>
            <a:r>
              <a:rPr u="sng" spc="-470" dirty="0"/>
              <a:t> </a:t>
            </a:r>
            <a:r>
              <a:rPr u="sng" spc="-445" dirty="0"/>
              <a:t>Breaks)</a:t>
            </a:r>
          </a:p>
        </p:txBody>
      </p:sp>
      <p:pic>
        <p:nvPicPr>
          <p:cNvPr id="9" name="object 9"/>
          <p:cNvPicPr/>
          <p:nvPr/>
        </p:nvPicPr>
        <p:blipFill>
          <a:blip r:embed="rId3" cstate="print"/>
          <a:stretch>
            <a:fillRect/>
          </a:stretch>
        </p:blipFill>
        <p:spPr>
          <a:xfrm>
            <a:off x="244807" y="314380"/>
            <a:ext cx="1571624" cy="1078140"/>
          </a:xfrm>
          <a:prstGeom prst="rect">
            <a:avLst/>
          </a:prstGeom>
        </p:spPr>
      </p:pic>
      <p:grpSp>
        <p:nvGrpSpPr>
          <p:cNvPr id="10" name="object 10"/>
          <p:cNvGrpSpPr/>
          <p:nvPr/>
        </p:nvGrpSpPr>
        <p:grpSpPr>
          <a:xfrm>
            <a:off x="6347447" y="9626432"/>
            <a:ext cx="638175" cy="638175"/>
            <a:chOff x="6347447" y="9626432"/>
            <a:chExt cx="638175" cy="638175"/>
          </a:xfrm>
        </p:grpSpPr>
        <p:sp>
          <p:nvSpPr>
            <p:cNvPr id="11" name="object 11"/>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12" name="object 12"/>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3" name="object 13"/>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568238"/>
            <a:ext cx="18288000" cy="718820"/>
            <a:chOff x="0" y="9568238"/>
            <a:chExt cx="18288000" cy="718820"/>
          </a:xfrm>
        </p:grpSpPr>
        <p:sp>
          <p:nvSpPr>
            <p:cNvPr id="3" name="object 3"/>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4" name="object 4"/>
            <p:cNvSpPr/>
            <p:nvPr/>
          </p:nvSpPr>
          <p:spPr>
            <a:xfrm>
              <a:off x="6466160" y="9825814"/>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9" name="object 9"/>
          <p:cNvSpPr txBox="1"/>
          <p:nvPr/>
        </p:nvSpPr>
        <p:spPr>
          <a:xfrm>
            <a:off x="1371600" y="1651327"/>
            <a:ext cx="17526000" cy="7806689"/>
          </a:xfrm>
          <a:prstGeom prst="rect">
            <a:avLst/>
          </a:prstGeom>
        </p:spPr>
        <p:txBody>
          <a:bodyPr vert="horz" wrap="square" lIns="0" tIns="98425" rIns="0" bIns="0" rtlCol="0">
            <a:spAutoFit/>
          </a:bodyPr>
          <a:lstStyle/>
          <a:p>
            <a:pPr marL="272415" marR="3246120">
              <a:lnSpc>
                <a:spcPts val="4880"/>
              </a:lnSpc>
              <a:spcBef>
                <a:spcPts val="270"/>
              </a:spcBef>
            </a:pPr>
            <a:r>
              <a:rPr lang="en-US" sz="3500" b="1" u="sng" spc="-150" dirty="0">
                <a:latin typeface="Verdana"/>
                <a:cs typeface="Verdana"/>
              </a:rPr>
              <a:t>Primary Objective:</a:t>
            </a:r>
          </a:p>
          <a:p>
            <a:pPr marL="272415" marR="3246120">
              <a:lnSpc>
                <a:spcPts val="4880"/>
              </a:lnSpc>
              <a:spcBef>
                <a:spcPts val="270"/>
              </a:spcBef>
            </a:pPr>
            <a:r>
              <a:rPr lang="en-US" sz="3500" spc="-150" dirty="0">
                <a:latin typeface="Verdana"/>
                <a:cs typeface="Verdana"/>
              </a:rPr>
              <a:t>To replace delayed, first-come mental health support with a centralized digital triage platform that classifies user risk, prioritizes urgent cases, and enables faster, safer intervention.</a:t>
            </a:r>
          </a:p>
          <a:p>
            <a:pPr marL="272415" marR="3246120">
              <a:lnSpc>
                <a:spcPts val="4880"/>
              </a:lnSpc>
              <a:spcBef>
                <a:spcPts val="270"/>
              </a:spcBef>
            </a:pPr>
            <a:r>
              <a:rPr lang="en-US" sz="3500" b="1" u="sng" spc="-150" dirty="0">
                <a:latin typeface="Verdana"/>
                <a:cs typeface="Verdana"/>
              </a:rPr>
              <a:t>Success Criteria:</a:t>
            </a:r>
            <a:endParaRPr lang="en-US" sz="3500" b="1" u="sng" spc="-415" dirty="0">
              <a:latin typeface="Verdana"/>
              <a:cs typeface="Verdana"/>
            </a:endParaRPr>
          </a:p>
          <a:p>
            <a:pPr marL="272415" marR="3246120">
              <a:lnSpc>
                <a:spcPts val="4880"/>
              </a:lnSpc>
              <a:spcBef>
                <a:spcPts val="270"/>
              </a:spcBef>
            </a:pPr>
            <a:r>
              <a:rPr lang="en-US" sz="3500" dirty="0">
                <a:latin typeface="Verdana"/>
                <a:cs typeface="Verdana"/>
                <a:sym typeface="Wingdings" panose="05000000000000000000" pitchFamily="2" charset="2"/>
              </a:rPr>
              <a:t></a:t>
            </a:r>
            <a:r>
              <a:rPr lang="en-US" sz="3500" dirty="0">
                <a:latin typeface="Verdana"/>
                <a:cs typeface="Verdana"/>
              </a:rPr>
              <a:t>Accurately classify users into Low, Medium, and High Crisis.</a:t>
            </a:r>
          </a:p>
          <a:p>
            <a:pPr marL="272415" marR="3246120">
              <a:lnSpc>
                <a:spcPts val="4880"/>
              </a:lnSpc>
              <a:spcBef>
                <a:spcPts val="270"/>
              </a:spcBef>
            </a:pPr>
            <a:r>
              <a:rPr lang="en-US" sz="3500" dirty="0">
                <a:latin typeface="Verdana"/>
                <a:cs typeface="Verdana"/>
                <a:sym typeface="Wingdings" panose="05000000000000000000" pitchFamily="2" charset="2"/>
              </a:rPr>
              <a:t></a:t>
            </a:r>
            <a:r>
              <a:rPr lang="en-US" sz="3500" dirty="0">
                <a:latin typeface="Verdana"/>
                <a:cs typeface="Verdana"/>
              </a:rPr>
              <a:t>Provide immediate support and escalation for high-risk cases.</a:t>
            </a:r>
          </a:p>
          <a:p>
            <a:pPr marL="272415" marR="3246120">
              <a:lnSpc>
                <a:spcPts val="4880"/>
              </a:lnSpc>
              <a:spcBef>
                <a:spcPts val="270"/>
              </a:spcBef>
            </a:pPr>
            <a:r>
              <a:rPr lang="en-US" sz="3500" dirty="0">
                <a:latin typeface="Verdana"/>
                <a:cs typeface="Verdana"/>
                <a:sym typeface="Wingdings" panose="05000000000000000000" pitchFamily="2" charset="2"/>
              </a:rPr>
              <a:t></a:t>
            </a:r>
            <a:r>
              <a:rPr lang="en-US" sz="3500" dirty="0">
                <a:latin typeface="Verdana"/>
                <a:cs typeface="Verdana"/>
              </a:rPr>
              <a:t>Help counselors quickly identify and respond to the most urgent users.</a:t>
            </a:r>
          </a:p>
          <a:p>
            <a:pPr marL="272415" marR="3246120">
              <a:lnSpc>
                <a:spcPts val="4880"/>
              </a:lnSpc>
              <a:spcBef>
                <a:spcPts val="270"/>
              </a:spcBef>
            </a:pPr>
            <a:r>
              <a:rPr lang="en-US" sz="3500" dirty="0">
                <a:latin typeface="Verdana"/>
                <a:cs typeface="Verdana"/>
                <a:sym typeface="Wingdings" panose="05000000000000000000" pitchFamily="2" charset="2"/>
              </a:rPr>
              <a:t></a:t>
            </a:r>
            <a:r>
              <a:rPr lang="en-US" sz="3500" dirty="0">
                <a:latin typeface="Verdana"/>
                <a:cs typeface="Verdana"/>
              </a:rPr>
              <a:t>Maintain useful user context for faster and better intervention.</a:t>
            </a:r>
            <a:endParaRPr sz="3500" dirty="0">
              <a:latin typeface="Verdana"/>
              <a:cs typeface="Verdana"/>
            </a:endParaRPr>
          </a:p>
        </p:txBody>
      </p:sp>
      <p:pic>
        <p:nvPicPr>
          <p:cNvPr id="10" name="object 10"/>
          <p:cNvPicPr/>
          <p:nvPr/>
        </p:nvPicPr>
        <p:blipFill>
          <a:blip r:embed="rId2" cstate="print"/>
          <a:stretch>
            <a:fillRect/>
          </a:stretch>
        </p:blipFill>
        <p:spPr>
          <a:xfrm>
            <a:off x="16551740" y="182681"/>
            <a:ext cx="1514474" cy="1514474"/>
          </a:xfrm>
          <a:prstGeom prst="rect">
            <a:avLst/>
          </a:prstGeom>
        </p:spPr>
      </p:pic>
      <p:sp>
        <p:nvSpPr>
          <p:cNvPr id="11" name="object 11"/>
          <p:cNvSpPr txBox="1">
            <a:spLocks noGrp="1"/>
          </p:cNvSpPr>
          <p:nvPr>
            <p:ph type="title"/>
          </p:nvPr>
        </p:nvSpPr>
        <p:spPr>
          <a:xfrm>
            <a:off x="3689276" y="459750"/>
            <a:ext cx="10909448" cy="787400"/>
          </a:xfrm>
          <a:prstGeom prst="rect">
            <a:avLst/>
          </a:prstGeom>
        </p:spPr>
        <p:txBody>
          <a:bodyPr vert="horz" wrap="square" lIns="0" tIns="12700" rIns="0" bIns="0" rtlCol="0">
            <a:spAutoFit/>
          </a:bodyPr>
          <a:lstStyle/>
          <a:p>
            <a:pPr marL="945515">
              <a:lnSpc>
                <a:spcPct val="100000"/>
              </a:lnSpc>
              <a:spcBef>
                <a:spcPts val="100"/>
              </a:spcBef>
            </a:pPr>
            <a:r>
              <a:rPr u="sng" spc="-330" dirty="0"/>
              <a:t>Objectives</a:t>
            </a:r>
            <a:r>
              <a:rPr u="sng" spc="-484" dirty="0"/>
              <a:t> </a:t>
            </a:r>
            <a:r>
              <a:rPr u="sng" spc="-1160" dirty="0"/>
              <a:t>&amp;</a:t>
            </a:r>
            <a:r>
              <a:rPr u="sng" spc="-484" dirty="0"/>
              <a:t> </a:t>
            </a:r>
            <a:r>
              <a:rPr u="sng" spc="-509" dirty="0"/>
              <a:t>Success</a:t>
            </a:r>
            <a:r>
              <a:rPr u="sng" spc="-480" dirty="0"/>
              <a:t> </a:t>
            </a:r>
            <a:r>
              <a:rPr u="sng" spc="-290" dirty="0"/>
              <a:t>Criteria</a:t>
            </a:r>
          </a:p>
        </p:txBody>
      </p:sp>
      <p:pic>
        <p:nvPicPr>
          <p:cNvPr id="12" name="object 12"/>
          <p:cNvPicPr/>
          <p:nvPr/>
        </p:nvPicPr>
        <p:blipFill>
          <a:blip r:embed="rId3" cstate="print"/>
          <a:stretch>
            <a:fillRect/>
          </a:stretch>
        </p:blipFill>
        <p:spPr>
          <a:xfrm>
            <a:off x="244807" y="314380"/>
            <a:ext cx="1571624" cy="1078140"/>
          </a:xfrm>
          <a:prstGeom prst="rect">
            <a:avLst/>
          </a:prstGeom>
        </p:spPr>
      </p:pic>
      <p:sp>
        <p:nvSpPr>
          <p:cNvPr id="13" name="object 13"/>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51740" y="182681"/>
            <a:ext cx="1514474" cy="1514474"/>
          </a:xfrm>
          <a:prstGeom prst="rect">
            <a:avLst/>
          </a:prstGeom>
        </p:spPr>
      </p:pic>
      <p:sp>
        <p:nvSpPr>
          <p:cNvPr id="5" name="object 5"/>
          <p:cNvSpPr txBox="1">
            <a:spLocks noGrp="1"/>
          </p:cNvSpPr>
          <p:nvPr>
            <p:ph type="title"/>
          </p:nvPr>
        </p:nvSpPr>
        <p:spPr>
          <a:prstGeom prst="rect">
            <a:avLst/>
          </a:prstGeom>
        </p:spPr>
        <p:txBody>
          <a:bodyPr vert="horz" wrap="square" lIns="0" tIns="12700" rIns="0" bIns="0" rtlCol="0">
            <a:spAutoFit/>
          </a:bodyPr>
          <a:lstStyle/>
          <a:p>
            <a:pPr marL="1270635">
              <a:lnSpc>
                <a:spcPct val="100000"/>
              </a:lnSpc>
              <a:spcBef>
                <a:spcPts val="100"/>
              </a:spcBef>
            </a:pPr>
            <a:r>
              <a:rPr u="sng" spc="-305" dirty="0"/>
              <a:t>Proposed</a:t>
            </a:r>
            <a:r>
              <a:rPr u="sng" spc="-450" dirty="0"/>
              <a:t> </a:t>
            </a:r>
            <a:r>
              <a:rPr u="sng" spc="-254" dirty="0"/>
              <a:t>Solution</a:t>
            </a:r>
            <a:r>
              <a:rPr u="sng" spc="-450" dirty="0"/>
              <a:t> </a:t>
            </a:r>
            <a:r>
              <a:rPr u="sng" spc="-365" dirty="0"/>
              <a:t>Strategy</a:t>
            </a:r>
          </a:p>
        </p:txBody>
      </p:sp>
      <p:pic>
        <p:nvPicPr>
          <p:cNvPr id="6" name="object 6"/>
          <p:cNvPicPr/>
          <p:nvPr/>
        </p:nvPicPr>
        <p:blipFill>
          <a:blip r:embed="rId3" cstate="print"/>
          <a:stretch>
            <a:fillRect/>
          </a:stretch>
        </p:blipFill>
        <p:spPr>
          <a:xfrm>
            <a:off x="244807" y="314380"/>
            <a:ext cx="1571624" cy="1078140"/>
          </a:xfrm>
          <a:prstGeom prst="rect">
            <a:avLst/>
          </a:prstGeom>
        </p:spPr>
      </p:pic>
      <p:grpSp>
        <p:nvGrpSpPr>
          <p:cNvPr id="7" name="object 7"/>
          <p:cNvGrpSpPr/>
          <p:nvPr/>
        </p:nvGrpSpPr>
        <p:grpSpPr>
          <a:xfrm>
            <a:off x="6347447" y="9626432"/>
            <a:ext cx="638175" cy="638175"/>
            <a:chOff x="6347447" y="9626432"/>
            <a:chExt cx="638175" cy="638175"/>
          </a:xfrm>
        </p:grpSpPr>
        <p:sp>
          <p:nvSpPr>
            <p:cNvPr id="8" name="object 8"/>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9" name="object 9"/>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0" name="object 10"/>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
        <p:nvSpPr>
          <p:cNvPr id="11" name="TextBox 10">
            <a:extLst>
              <a:ext uri="{FF2B5EF4-FFF2-40B4-BE49-F238E27FC236}">
                <a16:creationId xmlns:a16="http://schemas.microsoft.com/office/drawing/2014/main" id="{3CCF9313-7886-F8CA-A46C-49D0E037C6C1}"/>
              </a:ext>
            </a:extLst>
          </p:cNvPr>
          <p:cNvSpPr txBox="1"/>
          <p:nvPr/>
        </p:nvSpPr>
        <p:spPr>
          <a:xfrm>
            <a:off x="1066800" y="3467100"/>
            <a:ext cx="15484940" cy="5078313"/>
          </a:xfrm>
          <a:prstGeom prst="rect">
            <a:avLst/>
          </a:prstGeom>
          <a:noFill/>
        </p:spPr>
        <p:txBody>
          <a:bodyPr wrap="square" rtlCol="0">
            <a:spAutoFit/>
          </a:bodyPr>
          <a:lstStyle/>
          <a:p>
            <a:r>
              <a:rPr lang="en-US" sz="3600" b="1" u="sng" dirty="0"/>
              <a:t>Structured Chat Intake:</a:t>
            </a:r>
          </a:p>
          <a:p>
            <a:r>
              <a:rPr lang="en-US" sz="3600" dirty="0">
                <a:sym typeface="Wingdings" panose="05000000000000000000" pitchFamily="2" charset="2"/>
              </a:rPr>
              <a:t></a:t>
            </a:r>
            <a:r>
              <a:rPr lang="en-US" sz="3600" dirty="0"/>
              <a:t>Guide users through a consistent conversation flow to capture clear mental health signals and reduce ambiguity.</a:t>
            </a:r>
          </a:p>
          <a:p>
            <a:r>
              <a:rPr lang="en-US" sz="3600" b="1" u="sng" dirty="0"/>
              <a:t>Role-Based Interfaces:</a:t>
            </a:r>
          </a:p>
          <a:p>
            <a:r>
              <a:rPr lang="en-US" sz="3600" dirty="0">
                <a:sym typeface="Wingdings" panose="05000000000000000000" pitchFamily="2" charset="2"/>
              </a:rPr>
              <a:t></a:t>
            </a:r>
            <a:r>
              <a:rPr lang="en-US" sz="3600" dirty="0"/>
              <a:t>Separate experiences for users and counselors, with users receiving support and counselors seeing prioritized case insights.</a:t>
            </a:r>
          </a:p>
          <a:p>
            <a:r>
              <a:rPr lang="en-US" sz="3600" b="1" u="sng" dirty="0"/>
              <a:t>Smart Triage and Escalation Logic:</a:t>
            </a:r>
          </a:p>
          <a:p>
            <a:r>
              <a:rPr lang="en-US" sz="3600" dirty="0">
                <a:sym typeface="Wingdings" panose="05000000000000000000" pitchFamily="2" charset="2"/>
              </a:rPr>
              <a:t></a:t>
            </a:r>
            <a:r>
              <a:rPr lang="en-US" sz="3600" dirty="0"/>
              <a:t>Use NLP-based severity detection to classify risk, prioritize urgent cases, and trigger support or emergency escalation when needed</a:t>
            </a:r>
            <a:r>
              <a:rPr lang="en-US" dirty="0"/>
              <a:t>.</a:t>
            </a:r>
            <a:endParaRPr lang="en-IN" dirty="0"/>
          </a:p>
        </p:txBody>
      </p:sp>
      <p:pic>
        <p:nvPicPr>
          <p:cNvPr id="13" name="Picture 12">
            <a:extLst>
              <a:ext uri="{FF2B5EF4-FFF2-40B4-BE49-F238E27FC236}">
                <a16:creationId xmlns:a16="http://schemas.microsoft.com/office/drawing/2014/main" id="{8FB58FCE-8E72-5899-E2C6-DA25FCDE93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8682" y="1570270"/>
            <a:ext cx="9401175" cy="182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9568238"/>
            <a:ext cx="18288000" cy="718820"/>
            <a:chOff x="0" y="9568238"/>
            <a:chExt cx="18288000" cy="718820"/>
          </a:xfrm>
        </p:grpSpPr>
        <p:sp>
          <p:nvSpPr>
            <p:cNvPr id="3" name="object 3"/>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4" name="object 4"/>
            <p:cNvSpPr/>
            <p:nvPr/>
          </p:nvSpPr>
          <p:spPr>
            <a:xfrm>
              <a:off x="6466160" y="9825814"/>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0" name="object 10"/>
          <p:cNvSpPr txBox="1"/>
          <p:nvPr/>
        </p:nvSpPr>
        <p:spPr>
          <a:xfrm>
            <a:off x="643519" y="1806562"/>
            <a:ext cx="9551670" cy="593752"/>
          </a:xfrm>
          <a:prstGeom prst="rect">
            <a:avLst/>
          </a:prstGeom>
        </p:spPr>
        <p:txBody>
          <a:bodyPr vert="horz" wrap="square" lIns="0" tIns="12065" rIns="0" bIns="0" rtlCol="0">
            <a:spAutoFit/>
          </a:bodyPr>
          <a:lstStyle/>
          <a:p>
            <a:pPr marL="160655" marR="1507490" indent="-148590">
              <a:lnSpc>
                <a:spcPct val="116100"/>
              </a:lnSpc>
              <a:spcBef>
                <a:spcPts val="95"/>
              </a:spcBef>
            </a:pPr>
            <a:r>
              <a:rPr sz="3500" u="sng" spc="-370" dirty="0">
                <a:latin typeface="Arial Black"/>
                <a:cs typeface="Arial Black"/>
              </a:rPr>
              <a:t>Architectural</a:t>
            </a:r>
            <a:r>
              <a:rPr sz="3500" u="sng" spc="-680" dirty="0">
                <a:latin typeface="Arial Black"/>
                <a:cs typeface="Arial Black"/>
              </a:rPr>
              <a:t> </a:t>
            </a:r>
            <a:r>
              <a:rPr sz="3500" u="sng" spc="-390" dirty="0">
                <a:latin typeface="Arial Black"/>
                <a:cs typeface="Arial Black"/>
              </a:rPr>
              <a:t>Overview</a:t>
            </a:r>
            <a:r>
              <a:rPr sz="3500" u="sng" spc="-675" dirty="0">
                <a:latin typeface="Arial Black"/>
                <a:cs typeface="Arial Black"/>
              </a:rPr>
              <a:t> </a:t>
            </a:r>
            <a:r>
              <a:rPr sz="3500" u="sng" spc="-260" dirty="0">
                <a:latin typeface="Arial Black"/>
                <a:cs typeface="Arial Black"/>
              </a:rPr>
              <a:t>(3-</a:t>
            </a:r>
            <a:r>
              <a:rPr sz="3500" u="sng" spc="-380" dirty="0">
                <a:latin typeface="Arial Black"/>
                <a:cs typeface="Arial Black"/>
              </a:rPr>
              <a:t>Tier):</a:t>
            </a:r>
            <a:endParaRPr sz="3500" u="sng" dirty="0">
              <a:latin typeface="Verdana"/>
              <a:cs typeface="Verdana"/>
            </a:endParaRPr>
          </a:p>
        </p:txBody>
      </p:sp>
      <p:pic>
        <p:nvPicPr>
          <p:cNvPr id="11" name="object 11"/>
          <p:cNvPicPr/>
          <p:nvPr/>
        </p:nvPicPr>
        <p:blipFill>
          <a:blip r:embed="rId2" cstate="print"/>
          <a:stretch>
            <a:fillRect/>
          </a:stretch>
        </p:blipFill>
        <p:spPr>
          <a:xfrm>
            <a:off x="16551740" y="182681"/>
            <a:ext cx="1514474" cy="1514474"/>
          </a:xfrm>
          <a:prstGeom prst="rect">
            <a:avLst/>
          </a:prstGeom>
        </p:spPr>
      </p:pic>
      <p:sp>
        <p:nvSpPr>
          <p:cNvPr id="13" name="object 13"/>
          <p:cNvSpPr txBox="1">
            <a:spLocks noGrp="1"/>
          </p:cNvSpPr>
          <p:nvPr>
            <p:ph type="title"/>
          </p:nvPr>
        </p:nvSpPr>
        <p:spPr>
          <a:prstGeom prst="rect">
            <a:avLst/>
          </a:prstGeom>
        </p:spPr>
        <p:txBody>
          <a:bodyPr vert="horz" wrap="square" lIns="0" tIns="12700" rIns="0" bIns="0" rtlCol="0">
            <a:spAutoFit/>
          </a:bodyPr>
          <a:lstStyle/>
          <a:p>
            <a:pPr marL="2200275">
              <a:lnSpc>
                <a:spcPct val="100000"/>
              </a:lnSpc>
              <a:spcBef>
                <a:spcPts val="100"/>
              </a:spcBef>
            </a:pPr>
            <a:r>
              <a:rPr u="sng" spc="-395" dirty="0"/>
              <a:t>System</a:t>
            </a:r>
            <a:r>
              <a:rPr u="sng" spc="-465" dirty="0"/>
              <a:t> </a:t>
            </a:r>
            <a:r>
              <a:rPr u="sng" spc="-330" dirty="0"/>
              <a:t>Architecture</a:t>
            </a:r>
          </a:p>
        </p:txBody>
      </p:sp>
      <p:pic>
        <p:nvPicPr>
          <p:cNvPr id="14" name="object 14"/>
          <p:cNvPicPr/>
          <p:nvPr/>
        </p:nvPicPr>
        <p:blipFill>
          <a:blip r:embed="rId3" cstate="print"/>
          <a:stretch>
            <a:fillRect/>
          </a:stretch>
        </p:blipFill>
        <p:spPr>
          <a:xfrm>
            <a:off x="244807" y="314380"/>
            <a:ext cx="1571624" cy="1078140"/>
          </a:xfrm>
          <a:prstGeom prst="rect">
            <a:avLst/>
          </a:prstGeom>
        </p:spPr>
      </p:pic>
      <p:sp>
        <p:nvSpPr>
          <p:cNvPr id="15" name="object 15"/>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
        <p:nvSpPr>
          <p:cNvPr id="17" name="TextBox 16">
            <a:extLst>
              <a:ext uri="{FF2B5EF4-FFF2-40B4-BE49-F238E27FC236}">
                <a16:creationId xmlns:a16="http://schemas.microsoft.com/office/drawing/2014/main" id="{6EF7CBDF-3A3D-89CD-CDCF-FF12D71EEC33}"/>
              </a:ext>
            </a:extLst>
          </p:cNvPr>
          <p:cNvSpPr txBox="1"/>
          <p:nvPr/>
        </p:nvSpPr>
        <p:spPr>
          <a:xfrm>
            <a:off x="566948" y="2599696"/>
            <a:ext cx="10134600" cy="6001643"/>
          </a:xfrm>
          <a:prstGeom prst="rect">
            <a:avLst/>
          </a:prstGeom>
          <a:noFill/>
        </p:spPr>
        <p:txBody>
          <a:bodyPr wrap="square">
            <a:spAutoFit/>
          </a:bodyPr>
          <a:lstStyle/>
          <a:p>
            <a:r>
              <a:rPr lang="en-IN" sz="3200" b="1" dirty="0">
                <a:sym typeface="Wingdings" panose="05000000000000000000" pitchFamily="2" charset="2"/>
              </a:rPr>
              <a:t></a:t>
            </a:r>
            <a:r>
              <a:rPr lang="en-IN" sz="3200" b="1" dirty="0"/>
              <a:t>Frontend Layer (React):</a:t>
            </a:r>
          </a:p>
          <a:p>
            <a:r>
              <a:rPr lang="en-IN" sz="3200" dirty="0"/>
              <a:t>Responsive interfaces for users and </a:t>
            </a:r>
            <a:r>
              <a:rPr lang="en-IN" sz="3200" dirty="0" err="1"/>
              <a:t>counselors</a:t>
            </a:r>
            <a:r>
              <a:rPr lang="en-IN" sz="3200" dirty="0"/>
              <a:t>, including anonymous chat intake and the </a:t>
            </a:r>
            <a:r>
              <a:rPr lang="en-IN" sz="3200" dirty="0" err="1"/>
              <a:t>counselor</a:t>
            </a:r>
            <a:r>
              <a:rPr lang="en-IN" sz="3200" dirty="0"/>
              <a:t> dashboard.</a:t>
            </a:r>
          </a:p>
          <a:p>
            <a:r>
              <a:rPr lang="en-IN" sz="3200" b="1" dirty="0">
                <a:sym typeface="Wingdings" panose="05000000000000000000" pitchFamily="2" charset="2"/>
              </a:rPr>
              <a:t></a:t>
            </a:r>
            <a:r>
              <a:rPr lang="en-IN" sz="3200" b="1" dirty="0"/>
              <a:t>Backend Logic Layer:</a:t>
            </a:r>
          </a:p>
          <a:p>
            <a:r>
              <a:rPr lang="en-IN" sz="3200" dirty="0"/>
              <a:t>Handles NLP-based triage, severity scoring, de-escalation logic, emergency escalation, and queue management.</a:t>
            </a:r>
          </a:p>
          <a:p>
            <a:r>
              <a:rPr lang="en-IN" sz="3200" b="1" dirty="0">
                <a:sym typeface="Wingdings" panose="05000000000000000000" pitchFamily="2" charset="2"/>
              </a:rPr>
              <a:t></a:t>
            </a:r>
            <a:r>
              <a:rPr lang="en-IN" sz="3200" b="1" dirty="0"/>
              <a:t>Data Persistence Layer:</a:t>
            </a:r>
          </a:p>
          <a:p>
            <a:r>
              <a:rPr lang="en-IN" sz="3200" dirty="0"/>
              <a:t>Stores anonymized profiles, session history, emergency contacts, triage results, and audit logs for reliable retrieval.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51740" y="182681"/>
            <a:ext cx="1514474" cy="1514474"/>
          </a:xfrm>
          <a:prstGeom prst="rect">
            <a:avLst/>
          </a:prstGeom>
        </p:spPr>
      </p:pic>
      <p:sp>
        <p:nvSpPr>
          <p:cNvPr id="3" name="object 3"/>
          <p:cNvSpPr txBox="1"/>
          <p:nvPr/>
        </p:nvSpPr>
        <p:spPr>
          <a:xfrm>
            <a:off x="412579" y="1795449"/>
            <a:ext cx="10417810" cy="7485319"/>
          </a:xfrm>
          <a:prstGeom prst="rect">
            <a:avLst/>
          </a:prstGeom>
        </p:spPr>
        <p:txBody>
          <a:bodyPr vert="horz" wrap="square" lIns="0" tIns="12065" rIns="0" bIns="0" rtlCol="0">
            <a:spAutoFit/>
          </a:bodyPr>
          <a:lstStyle/>
          <a:p>
            <a:pPr marR="5080">
              <a:lnSpc>
                <a:spcPct val="116100"/>
              </a:lnSpc>
              <a:spcBef>
                <a:spcPts val="95"/>
              </a:spcBef>
              <a:buSzPct val="88571"/>
              <a:tabLst>
                <a:tab pos="406400" algn="l"/>
              </a:tabLst>
            </a:pPr>
            <a:r>
              <a:rPr lang="en-US" sz="2800" b="1" dirty="0">
                <a:sym typeface="Wingdings" panose="05000000000000000000" pitchFamily="2" charset="2"/>
              </a:rPr>
              <a:t></a:t>
            </a:r>
            <a:r>
              <a:rPr lang="en-US" sz="2800" b="1" dirty="0"/>
              <a:t>Submission:</a:t>
            </a:r>
          </a:p>
          <a:p>
            <a:pPr marR="5080">
              <a:lnSpc>
                <a:spcPct val="116100"/>
              </a:lnSpc>
              <a:spcBef>
                <a:spcPts val="95"/>
              </a:spcBef>
              <a:buSzPct val="88571"/>
              <a:tabLst>
                <a:tab pos="406400" algn="l"/>
              </a:tabLst>
            </a:pPr>
            <a:r>
              <a:rPr lang="en-US" sz="2800" dirty="0"/>
              <a:t>User starts an anonymous chat and shares their condition.</a:t>
            </a:r>
          </a:p>
          <a:p>
            <a:pPr marL="12700" marR="5080" indent="-12700">
              <a:lnSpc>
                <a:spcPct val="116100"/>
              </a:lnSpc>
              <a:spcBef>
                <a:spcPts val="95"/>
              </a:spcBef>
              <a:buSzPct val="88571"/>
              <a:buFont typeface="Verdana"/>
              <a:buAutoNum type="arabicPeriod"/>
              <a:tabLst>
                <a:tab pos="406400" algn="l"/>
              </a:tabLst>
            </a:pPr>
            <a:endParaRPr lang="en-US" sz="2800" dirty="0"/>
          </a:p>
          <a:p>
            <a:pPr marR="5080">
              <a:lnSpc>
                <a:spcPct val="116100"/>
              </a:lnSpc>
              <a:spcBef>
                <a:spcPts val="95"/>
              </a:spcBef>
              <a:buSzPct val="88571"/>
              <a:tabLst>
                <a:tab pos="406400" algn="l"/>
              </a:tabLst>
            </a:pPr>
            <a:r>
              <a:rPr lang="en-US" sz="2800" b="1" dirty="0">
                <a:sym typeface="Wingdings" panose="05000000000000000000" pitchFamily="2" charset="2"/>
              </a:rPr>
              <a:t></a:t>
            </a:r>
            <a:r>
              <a:rPr lang="en-US" sz="2800" b="1" dirty="0"/>
              <a:t>Triage Logic:</a:t>
            </a:r>
          </a:p>
          <a:p>
            <a:pPr marR="5080">
              <a:lnSpc>
                <a:spcPct val="116100"/>
              </a:lnSpc>
              <a:spcBef>
                <a:spcPts val="95"/>
              </a:spcBef>
              <a:buSzPct val="88571"/>
              <a:tabLst>
                <a:tab pos="406400" algn="l"/>
              </a:tabLst>
            </a:pPr>
            <a:r>
              <a:rPr lang="en-US" sz="2800" dirty="0"/>
              <a:t>The system analyzes the chat and classifies it as Low, Medium, or High Crisis.</a:t>
            </a:r>
          </a:p>
          <a:p>
            <a:pPr marL="12700" marR="5080" indent="-12700">
              <a:lnSpc>
                <a:spcPct val="116100"/>
              </a:lnSpc>
              <a:spcBef>
                <a:spcPts val="95"/>
              </a:spcBef>
              <a:buSzPct val="88571"/>
              <a:buFont typeface="Verdana"/>
              <a:buAutoNum type="arabicPeriod"/>
              <a:tabLst>
                <a:tab pos="406400" algn="l"/>
              </a:tabLst>
            </a:pPr>
            <a:endParaRPr lang="en-US" sz="2800" dirty="0"/>
          </a:p>
          <a:p>
            <a:pPr marR="5080">
              <a:lnSpc>
                <a:spcPct val="116100"/>
              </a:lnSpc>
              <a:spcBef>
                <a:spcPts val="95"/>
              </a:spcBef>
              <a:buSzPct val="88571"/>
              <a:tabLst>
                <a:tab pos="406400" algn="l"/>
              </a:tabLst>
            </a:pPr>
            <a:r>
              <a:rPr lang="en-US" sz="2800" b="1" dirty="0">
                <a:sym typeface="Wingdings" panose="05000000000000000000" pitchFamily="2" charset="2"/>
              </a:rPr>
              <a:t></a:t>
            </a:r>
            <a:r>
              <a:rPr lang="en-US" sz="2800" b="1" dirty="0"/>
              <a:t>Visualization:</a:t>
            </a:r>
          </a:p>
          <a:p>
            <a:pPr marR="5080">
              <a:lnSpc>
                <a:spcPct val="116100"/>
              </a:lnSpc>
              <a:spcBef>
                <a:spcPts val="95"/>
              </a:spcBef>
              <a:buSzPct val="88571"/>
              <a:tabLst>
                <a:tab pos="406400" algn="l"/>
              </a:tabLst>
            </a:pPr>
            <a:r>
              <a:rPr lang="en-US" sz="2800" dirty="0"/>
              <a:t>The counselor dashboard updates instantly, with high-risk cases highlighted first.</a:t>
            </a:r>
          </a:p>
          <a:p>
            <a:pPr marR="5080">
              <a:lnSpc>
                <a:spcPct val="116100"/>
              </a:lnSpc>
              <a:spcBef>
                <a:spcPts val="95"/>
              </a:spcBef>
              <a:buSzPct val="88571"/>
              <a:tabLst>
                <a:tab pos="406400" algn="l"/>
              </a:tabLst>
            </a:pPr>
            <a:endParaRPr lang="en-US" sz="2800" dirty="0"/>
          </a:p>
          <a:p>
            <a:pPr marR="5080">
              <a:lnSpc>
                <a:spcPct val="116100"/>
              </a:lnSpc>
              <a:spcBef>
                <a:spcPts val="95"/>
              </a:spcBef>
              <a:buSzPct val="88571"/>
              <a:tabLst>
                <a:tab pos="406400" algn="l"/>
              </a:tabLst>
            </a:pPr>
            <a:r>
              <a:rPr lang="en-US" sz="2800" b="1" dirty="0">
                <a:sym typeface="Wingdings" panose="05000000000000000000" pitchFamily="2" charset="2"/>
              </a:rPr>
              <a:t></a:t>
            </a:r>
            <a:r>
              <a:rPr lang="en-US" sz="2800" b="1" dirty="0"/>
              <a:t>Resolution:</a:t>
            </a:r>
          </a:p>
          <a:p>
            <a:pPr marR="5080">
              <a:lnSpc>
                <a:spcPct val="116100"/>
              </a:lnSpc>
              <a:spcBef>
                <a:spcPts val="95"/>
              </a:spcBef>
              <a:buSzPct val="88571"/>
              <a:tabLst>
                <a:tab pos="406400" algn="l"/>
              </a:tabLst>
            </a:pPr>
            <a:r>
              <a:rPr lang="en-US" sz="2800" dirty="0"/>
              <a:t>The counselor responds, updates the case status, and the session is saved in history</a:t>
            </a:r>
            <a:r>
              <a:rPr lang="en-US" dirty="0"/>
              <a:t>.</a:t>
            </a:r>
            <a:endParaRPr sz="3500" dirty="0">
              <a:latin typeface="Verdana"/>
              <a:cs typeface="Verdana"/>
            </a:endParaRPr>
          </a:p>
        </p:txBody>
      </p:sp>
      <p:sp>
        <p:nvSpPr>
          <p:cNvPr id="5" name="object 5"/>
          <p:cNvSpPr txBox="1">
            <a:spLocks noGrp="1"/>
          </p:cNvSpPr>
          <p:nvPr>
            <p:ph type="title"/>
          </p:nvPr>
        </p:nvSpPr>
        <p:spPr>
          <a:prstGeom prst="rect">
            <a:avLst/>
          </a:prstGeom>
        </p:spPr>
        <p:txBody>
          <a:bodyPr vert="horz" wrap="square" lIns="0" tIns="12700" rIns="0" bIns="0" rtlCol="0">
            <a:spAutoFit/>
          </a:bodyPr>
          <a:lstStyle/>
          <a:p>
            <a:pPr marL="2169160">
              <a:lnSpc>
                <a:spcPct val="100000"/>
              </a:lnSpc>
              <a:spcBef>
                <a:spcPts val="100"/>
              </a:spcBef>
            </a:pPr>
            <a:r>
              <a:rPr u="sng" spc="-315" dirty="0"/>
              <a:t>Data</a:t>
            </a:r>
            <a:r>
              <a:rPr u="sng" spc="-490" dirty="0"/>
              <a:t> </a:t>
            </a:r>
            <a:r>
              <a:rPr u="sng" spc="-415" dirty="0"/>
              <a:t>Flow</a:t>
            </a:r>
            <a:r>
              <a:rPr u="sng" spc="-484" dirty="0"/>
              <a:t> </a:t>
            </a:r>
            <a:r>
              <a:rPr u="sng" spc="705" dirty="0"/>
              <a:t>/</a:t>
            </a:r>
            <a:r>
              <a:rPr u="sng" spc="-484" dirty="0"/>
              <a:t> </a:t>
            </a:r>
            <a:r>
              <a:rPr u="sng" spc="-350" dirty="0"/>
              <a:t>Workflow</a:t>
            </a:r>
          </a:p>
        </p:txBody>
      </p:sp>
      <p:pic>
        <p:nvPicPr>
          <p:cNvPr id="6" name="object 6"/>
          <p:cNvPicPr/>
          <p:nvPr/>
        </p:nvPicPr>
        <p:blipFill>
          <a:blip r:embed="rId3" cstate="print"/>
          <a:stretch>
            <a:fillRect/>
          </a:stretch>
        </p:blipFill>
        <p:spPr>
          <a:xfrm>
            <a:off x="244807" y="314380"/>
            <a:ext cx="1571624" cy="1078140"/>
          </a:xfrm>
          <a:prstGeom prst="rect">
            <a:avLst/>
          </a:prstGeom>
        </p:spPr>
      </p:pic>
      <p:grpSp>
        <p:nvGrpSpPr>
          <p:cNvPr id="7" name="object 7"/>
          <p:cNvGrpSpPr/>
          <p:nvPr/>
        </p:nvGrpSpPr>
        <p:grpSpPr>
          <a:xfrm>
            <a:off x="6347447" y="9626432"/>
            <a:ext cx="638175" cy="638175"/>
            <a:chOff x="6347447" y="9626432"/>
            <a:chExt cx="638175" cy="638175"/>
          </a:xfrm>
        </p:grpSpPr>
        <p:sp>
          <p:nvSpPr>
            <p:cNvPr id="8" name="object 8"/>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9" name="object 9"/>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0" name="object 10"/>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551740" y="182681"/>
            <a:ext cx="1514474" cy="1514474"/>
          </a:xfrm>
          <a:prstGeom prst="rect">
            <a:avLst/>
          </a:prstGeom>
        </p:spPr>
      </p:pic>
      <p:sp>
        <p:nvSpPr>
          <p:cNvPr id="11" name="object 11"/>
          <p:cNvSpPr txBox="1">
            <a:spLocks noGrp="1"/>
          </p:cNvSpPr>
          <p:nvPr>
            <p:ph type="title"/>
          </p:nvPr>
        </p:nvSpPr>
        <p:spPr>
          <a:prstGeom prst="rect">
            <a:avLst/>
          </a:prstGeom>
        </p:spPr>
        <p:txBody>
          <a:bodyPr vert="horz" wrap="square" lIns="0" tIns="12700" rIns="0" bIns="0" rtlCol="0">
            <a:spAutoFit/>
          </a:bodyPr>
          <a:lstStyle/>
          <a:p>
            <a:pPr marL="2699385">
              <a:lnSpc>
                <a:spcPct val="100000"/>
              </a:lnSpc>
              <a:spcBef>
                <a:spcPts val="100"/>
              </a:spcBef>
            </a:pPr>
            <a:r>
              <a:rPr u="sng" spc="-345" dirty="0"/>
              <a:t>Impact</a:t>
            </a:r>
            <a:r>
              <a:rPr u="sng" spc="-475" dirty="0"/>
              <a:t> </a:t>
            </a:r>
            <a:r>
              <a:rPr u="sng" spc="-1160" dirty="0"/>
              <a:t>&amp;</a:t>
            </a:r>
            <a:r>
              <a:rPr u="sng" spc="-475" dirty="0"/>
              <a:t> </a:t>
            </a:r>
            <a:r>
              <a:rPr u="sng" spc="-320" dirty="0"/>
              <a:t>Benefits</a:t>
            </a:r>
          </a:p>
        </p:txBody>
      </p:sp>
      <p:pic>
        <p:nvPicPr>
          <p:cNvPr id="12" name="object 12"/>
          <p:cNvPicPr/>
          <p:nvPr/>
        </p:nvPicPr>
        <p:blipFill>
          <a:blip r:embed="rId3" cstate="print"/>
          <a:stretch>
            <a:fillRect/>
          </a:stretch>
        </p:blipFill>
        <p:spPr>
          <a:xfrm>
            <a:off x="244807" y="314380"/>
            <a:ext cx="1571624" cy="1078140"/>
          </a:xfrm>
          <a:prstGeom prst="rect">
            <a:avLst/>
          </a:prstGeom>
        </p:spPr>
      </p:pic>
      <p:grpSp>
        <p:nvGrpSpPr>
          <p:cNvPr id="13" name="object 13"/>
          <p:cNvGrpSpPr/>
          <p:nvPr/>
        </p:nvGrpSpPr>
        <p:grpSpPr>
          <a:xfrm>
            <a:off x="6347447" y="9626432"/>
            <a:ext cx="638175" cy="638175"/>
            <a:chOff x="6347447" y="9626432"/>
            <a:chExt cx="638175" cy="638175"/>
          </a:xfrm>
        </p:grpSpPr>
        <p:sp>
          <p:nvSpPr>
            <p:cNvPr id="14" name="object 14"/>
            <p:cNvSpPr/>
            <p:nvPr/>
          </p:nvSpPr>
          <p:spPr>
            <a:xfrm>
              <a:off x="6347447" y="9626432"/>
              <a:ext cx="638175" cy="638175"/>
            </a:xfrm>
            <a:custGeom>
              <a:avLst/>
              <a:gdLst/>
              <a:ahLst/>
              <a:cxnLst/>
              <a:rect l="l" t="t" r="r" b="b"/>
              <a:pathLst>
                <a:path w="638175" h="638175">
                  <a:moveTo>
                    <a:pt x="319087" y="638174"/>
                  </a:moveTo>
                  <a:lnTo>
                    <a:pt x="280025" y="635775"/>
                  </a:lnTo>
                  <a:lnTo>
                    <a:pt x="241555" y="628612"/>
                  </a:lnTo>
                  <a:lnTo>
                    <a:pt x="204251" y="616794"/>
                  </a:lnTo>
                  <a:lnTo>
                    <a:pt x="168670" y="600497"/>
                  </a:lnTo>
                  <a:lnTo>
                    <a:pt x="135352" y="579967"/>
                  </a:lnTo>
                  <a:lnTo>
                    <a:pt x="104801" y="555515"/>
                  </a:lnTo>
                  <a:lnTo>
                    <a:pt x="77473" y="527508"/>
                  </a:lnTo>
                  <a:lnTo>
                    <a:pt x="53775" y="496362"/>
                  </a:lnTo>
                  <a:lnTo>
                    <a:pt x="34069" y="462550"/>
                  </a:lnTo>
                  <a:lnTo>
                    <a:pt x="18652" y="426584"/>
                  </a:lnTo>
                  <a:lnTo>
                    <a:pt x="7753" y="389002"/>
                  </a:lnTo>
                  <a:lnTo>
                    <a:pt x="1536" y="350363"/>
                  </a:lnTo>
                  <a:lnTo>
                    <a:pt x="0" y="319087"/>
                  </a:lnTo>
                  <a:lnTo>
                    <a:pt x="96" y="311254"/>
                  </a:lnTo>
                  <a:lnTo>
                    <a:pt x="3453" y="272267"/>
                  </a:lnTo>
                  <a:lnTo>
                    <a:pt x="11557" y="233985"/>
                  </a:lnTo>
                  <a:lnTo>
                    <a:pt x="24289" y="196977"/>
                  </a:lnTo>
                  <a:lnTo>
                    <a:pt x="41454" y="161807"/>
                  </a:lnTo>
                  <a:lnTo>
                    <a:pt x="62793" y="129007"/>
                  </a:lnTo>
                  <a:lnTo>
                    <a:pt x="87987" y="99065"/>
                  </a:lnTo>
                  <a:lnTo>
                    <a:pt x="116660" y="72429"/>
                  </a:lnTo>
                  <a:lnTo>
                    <a:pt x="148378" y="49503"/>
                  </a:lnTo>
                  <a:lnTo>
                    <a:pt x="182659" y="30635"/>
                  </a:lnTo>
                  <a:lnTo>
                    <a:pt x="218993" y="16105"/>
                  </a:lnTo>
                  <a:lnTo>
                    <a:pt x="256836" y="6131"/>
                  </a:lnTo>
                  <a:lnTo>
                    <a:pt x="295616" y="864"/>
                  </a:lnTo>
                  <a:lnTo>
                    <a:pt x="319087" y="0"/>
                  </a:lnTo>
                  <a:lnTo>
                    <a:pt x="326920" y="96"/>
                  </a:lnTo>
                  <a:lnTo>
                    <a:pt x="365907" y="3453"/>
                  </a:lnTo>
                  <a:lnTo>
                    <a:pt x="404189" y="11557"/>
                  </a:lnTo>
                  <a:lnTo>
                    <a:pt x="441196" y="24289"/>
                  </a:lnTo>
                  <a:lnTo>
                    <a:pt x="476367" y="41454"/>
                  </a:lnTo>
                  <a:lnTo>
                    <a:pt x="509167" y="62793"/>
                  </a:lnTo>
                  <a:lnTo>
                    <a:pt x="539109" y="87987"/>
                  </a:lnTo>
                  <a:lnTo>
                    <a:pt x="565745" y="116660"/>
                  </a:lnTo>
                  <a:lnTo>
                    <a:pt x="588671" y="148378"/>
                  </a:lnTo>
                  <a:lnTo>
                    <a:pt x="607539" y="182659"/>
                  </a:lnTo>
                  <a:lnTo>
                    <a:pt x="622069" y="218993"/>
                  </a:lnTo>
                  <a:lnTo>
                    <a:pt x="632043" y="256836"/>
                  </a:lnTo>
                  <a:lnTo>
                    <a:pt x="637310" y="295616"/>
                  </a:lnTo>
                  <a:lnTo>
                    <a:pt x="638174" y="319087"/>
                  </a:lnTo>
                  <a:lnTo>
                    <a:pt x="638078" y="326920"/>
                  </a:lnTo>
                  <a:lnTo>
                    <a:pt x="634721" y="365907"/>
                  </a:lnTo>
                  <a:lnTo>
                    <a:pt x="626617" y="404189"/>
                  </a:lnTo>
                  <a:lnTo>
                    <a:pt x="613885" y="441196"/>
                  </a:lnTo>
                  <a:lnTo>
                    <a:pt x="596720" y="476367"/>
                  </a:lnTo>
                  <a:lnTo>
                    <a:pt x="575381" y="509167"/>
                  </a:lnTo>
                  <a:lnTo>
                    <a:pt x="550187" y="539109"/>
                  </a:lnTo>
                  <a:lnTo>
                    <a:pt x="521514" y="565745"/>
                  </a:lnTo>
                  <a:lnTo>
                    <a:pt x="489796" y="588671"/>
                  </a:lnTo>
                  <a:lnTo>
                    <a:pt x="455515" y="607539"/>
                  </a:lnTo>
                  <a:lnTo>
                    <a:pt x="419181" y="622069"/>
                  </a:lnTo>
                  <a:lnTo>
                    <a:pt x="381338" y="632043"/>
                  </a:lnTo>
                  <a:lnTo>
                    <a:pt x="342558" y="637310"/>
                  </a:lnTo>
                  <a:lnTo>
                    <a:pt x="319087" y="638174"/>
                  </a:lnTo>
                  <a:close/>
                </a:path>
              </a:pathLst>
            </a:custGeom>
            <a:solidFill>
              <a:srgbClr val="000000"/>
            </a:solidFill>
          </p:spPr>
          <p:txBody>
            <a:bodyPr wrap="square" lIns="0" tIns="0" rIns="0" bIns="0" rtlCol="0"/>
            <a:lstStyle/>
            <a:p>
              <a:endParaRPr/>
            </a:p>
          </p:txBody>
        </p:sp>
        <p:sp>
          <p:nvSpPr>
            <p:cNvPr id="15" name="object 15"/>
            <p:cNvSpPr/>
            <p:nvPr/>
          </p:nvSpPr>
          <p:spPr>
            <a:xfrm>
              <a:off x="6466160" y="9825813"/>
              <a:ext cx="399415" cy="240029"/>
            </a:xfrm>
            <a:custGeom>
              <a:avLst/>
              <a:gdLst/>
              <a:ahLst/>
              <a:cxnLst/>
              <a:rect l="l" t="t" r="r" b="b"/>
              <a:pathLst>
                <a:path w="399415" h="240029">
                  <a:moveTo>
                    <a:pt x="199546" y="108022"/>
                  </a:moveTo>
                  <a:lnTo>
                    <a:pt x="9218" y="3402"/>
                  </a:lnTo>
                  <a:lnTo>
                    <a:pt x="12464" y="1254"/>
                  </a:lnTo>
                  <a:lnTo>
                    <a:pt x="16353" y="0"/>
                  </a:lnTo>
                  <a:lnTo>
                    <a:pt x="383012" y="0"/>
                  </a:lnTo>
                  <a:lnTo>
                    <a:pt x="387333" y="1576"/>
                  </a:lnTo>
                  <a:lnTo>
                    <a:pt x="390791" y="4223"/>
                  </a:lnTo>
                  <a:lnTo>
                    <a:pt x="199546" y="108022"/>
                  </a:lnTo>
                  <a:close/>
                </a:path>
                <a:path w="399415" h="240029">
                  <a:moveTo>
                    <a:pt x="679" y="224123"/>
                  </a:moveTo>
                  <a:lnTo>
                    <a:pt x="231" y="222404"/>
                  </a:lnTo>
                  <a:lnTo>
                    <a:pt x="0" y="220689"/>
                  </a:lnTo>
                  <a:lnTo>
                    <a:pt x="0" y="21645"/>
                  </a:lnTo>
                  <a:lnTo>
                    <a:pt x="118192" y="85960"/>
                  </a:lnTo>
                  <a:lnTo>
                    <a:pt x="679" y="224123"/>
                  </a:lnTo>
                  <a:close/>
                </a:path>
                <a:path w="399415" h="240029">
                  <a:moveTo>
                    <a:pt x="396399" y="228627"/>
                  </a:moveTo>
                  <a:lnTo>
                    <a:pt x="280874" y="85960"/>
                  </a:lnTo>
                  <a:lnTo>
                    <a:pt x="398859" y="23053"/>
                  </a:lnTo>
                  <a:lnTo>
                    <a:pt x="398859" y="222404"/>
                  </a:lnTo>
                  <a:lnTo>
                    <a:pt x="397968" y="225725"/>
                  </a:lnTo>
                  <a:lnTo>
                    <a:pt x="396399" y="228627"/>
                  </a:lnTo>
                  <a:close/>
                </a:path>
                <a:path w="399415" h="240029">
                  <a:moveTo>
                    <a:pt x="378716" y="239402"/>
                  </a:moveTo>
                  <a:lnTo>
                    <a:pt x="18628" y="239402"/>
                  </a:lnTo>
                  <a:lnTo>
                    <a:pt x="16923" y="239167"/>
                  </a:lnTo>
                  <a:lnTo>
                    <a:pt x="15229" y="238716"/>
                  </a:lnTo>
                  <a:lnTo>
                    <a:pt x="136616" y="96276"/>
                  </a:lnTo>
                  <a:lnTo>
                    <a:pt x="196085" y="129623"/>
                  </a:lnTo>
                  <a:lnTo>
                    <a:pt x="197816" y="130060"/>
                  </a:lnTo>
                  <a:lnTo>
                    <a:pt x="289915" y="130060"/>
                  </a:lnTo>
                  <a:lnTo>
                    <a:pt x="378716" y="239402"/>
                  </a:lnTo>
                  <a:close/>
                </a:path>
                <a:path w="399415" h="240029">
                  <a:moveTo>
                    <a:pt x="289915" y="130060"/>
                  </a:moveTo>
                  <a:lnTo>
                    <a:pt x="201278" y="130060"/>
                  </a:lnTo>
                  <a:lnTo>
                    <a:pt x="203009" y="129623"/>
                  </a:lnTo>
                  <a:lnTo>
                    <a:pt x="262477" y="96276"/>
                  </a:lnTo>
                  <a:lnTo>
                    <a:pt x="289915" y="130060"/>
                  </a:lnTo>
                  <a:close/>
                </a:path>
              </a:pathLst>
            </a:custGeom>
            <a:solidFill>
              <a:srgbClr val="FFFFFF"/>
            </a:solidFill>
          </p:spPr>
          <p:txBody>
            <a:bodyPr wrap="square" lIns="0" tIns="0" rIns="0" bIns="0" rtlCol="0"/>
            <a:lstStyle/>
            <a:p>
              <a:endParaRPr/>
            </a:p>
          </p:txBody>
        </p:sp>
      </p:grpSp>
      <p:sp>
        <p:nvSpPr>
          <p:cNvPr id="16" name="object 16"/>
          <p:cNvSpPr txBox="1"/>
          <p:nvPr/>
        </p:nvSpPr>
        <p:spPr>
          <a:xfrm>
            <a:off x="7043125" y="9657009"/>
            <a:ext cx="4201795" cy="532130"/>
          </a:xfrm>
          <a:prstGeom prst="rect">
            <a:avLst/>
          </a:prstGeom>
        </p:spPr>
        <p:txBody>
          <a:bodyPr vert="horz" wrap="square" lIns="0" tIns="41275" rIns="0" bIns="0" rtlCol="0">
            <a:spAutoFit/>
          </a:bodyPr>
          <a:lstStyle/>
          <a:p>
            <a:pPr marL="12700">
              <a:lnSpc>
                <a:spcPct val="100000"/>
              </a:lnSpc>
              <a:spcBef>
                <a:spcPts val="325"/>
              </a:spcBef>
            </a:pPr>
            <a:r>
              <a:rPr sz="2900" spc="-114" dirty="0">
                <a:solidFill>
                  <a:srgbClr val="FFFFFF"/>
                </a:solidFill>
                <a:latin typeface="Arial Black"/>
                <a:cs typeface="Arial Black"/>
                <a:hlinkClick r:id="rId4"/>
              </a:rPr>
              <a:t>codingclub@sru.edu.in</a:t>
            </a:r>
            <a:endParaRPr sz="2900">
              <a:latin typeface="Arial Black"/>
              <a:cs typeface="Arial Black"/>
            </a:endParaRPr>
          </a:p>
        </p:txBody>
      </p:sp>
      <p:sp>
        <p:nvSpPr>
          <p:cNvPr id="18" name="TextBox 17">
            <a:extLst>
              <a:ext uri="{FF2B5EF4-FFF2-40B4-BE49-F238E27FC236}">
                <a16:creationId xmlns:a16="http://schemas.microsoft.com/office/drawing/2014/main" id="{D0309EB4-AE4B-6604-866E-4493C43EB637}"/>
              </a:ext>
            </a:extLst>
          </p:cNvPr>
          <p:cNvSpPr txBox="1"/>
          <p:nvPr/>
        </p:nvSpPr>
        <p:spPr>
          <a:xfrm>
            <a:off x="1030619" y="1523871"/>
            <a:ext cx="9144000" cy="6555641"/>
          </a:xfrm>
          <a:prstGeom prst="rect">
            <a:avLst/>
          </a:prstGeom>
          <a:noFill/>
        </p:spPr>
        <p:txBody>
          <a:bodyPr wrap="square">
            <a:spAutoFit/>
          </a:bodyPr>
          <a:lstStyle/>
          <a:p>
            <a:r>
              <a:rPr lang="en-US" sz="2800" b="1" u="sng" dirty="0"/>
              <a:t>For Users:</a:t>
            </a:r>
          </a:p>
          <a:p>
            <a:endParaRPr lang="en-US" sz="2800" dirty="0"/>
          </a:p>
          <a:p>
            <a:r>
              <a:rPr lang="en-US" sz="2800" dirty="0">
                <a:sym typeface="Wingdings" panose="05000000000000000000" pitchFamily="2" charset="2"/>
              </a:rPr>
              <a:t></a:t>
            </a:r>
            <a:r>
              <a:rPr lang="en-US" sz="2800" dirty="0"/>
              <a:t>Faster access to support during emotional distress</a:t>
            </a:r>
          </a:p>
          <a:p>
            <a:r>
              <a:rPr lang="en-US" sz="2800" dirty="0"/>
              <a:t>Immediate guidance while waiting for a counselor</a:t>
            </a:r>
          </a:p>
          <a:p>
            <a:r>
              <a:rPr lang="en-US" sz="2800" dirty="0"/>
              <a:t>More privacy through anonymous interaction</a:t>
            </a:r>
          </a:p>
          <a:p>
            <a:r>
              <a:rPr lang="en-US" sz="2800" dirty="0"/>
              <a:t>For Counselors:</a:t>
            </a:r>
          </a:p>
          <a:p>
            <a:endParaRPr lang="en-US" sz="2800" dirty="0"/>
          </a:p>
          <a:p>
            <a:r>
              <a:rPr lang="en-US" sz="2800" dirty="0">
                <a:sym typeface="Wingdings" panose="05000000000000000000" pitchFamily="2" charset="2"/>
              </a:rPr>
              <a:t></a:t>
            </a:r>
            <a:r>
              <a:rPr lang="en-US" sz="2800" dirty="0"/>
              <a:t>Clear visibility into the most critical cases first</a:t>
            </a:r>
          </a:p>
          <a:p>
            <a:r>
              <a:rPr lang="en-US" sz="2800" dirty="0"/>
              <a:t>Less time wasted on repeated intake questions</a:t>
            </a:r>
          </a:p>
          <a:p>
            <a:r>
              <a:rPr lang="en-US" sz="2800" dirty="0"/>
              <a:t>Better context for faster and more effective intervention</a:t>
            </a:r>
          </a:p>
          <a:p>
            <a:r>
              <a:rPr lang="en-US" sz="2800" dirty="0"/>
              <a:t>For the Organization:</a:t>
            </a:r>
          </a:p>
          <a:p>
            <a:endParaRPr lang="en-US" sz="2800" dirty="0"/>
          </a:p>
          <a:p>
            <a:r>
              <a:rPr lang="en-US" sz="2800" dirty="0">
                <a:sym typeface="Wingdings" panose="05000000000000000000" pitchFamily="2" charset="2"/>
              </a:rPr>
              <a:t></a:t>
            </a:r>
            <a:r>
              <a:rPr lang="en-US" sz="2800" dirty="0"/>
              <a:t>Structured crisis data for trend analysis and planning</a:t>
            </a:r>
          </a:p>
          <a:p>
            <a:r>
              <a:rPr lang="en-US" sz="2800" dirty="0"/>
              <a:t>Improved response efficiency and safer case handling</a:t>
            </a:r>
          </a:p>
          <a:p>
            <a:r>
              <a:rPr lang="en-US" sz="2800" dirty="0"/>
              <a:t>A more modern, reliable mental health support system</a:t>
            </a:r>
            <a:endParaRPr lang="en-IN"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TotalTime>
  <Words>745</Words>
  <Application>Microsoft Office PowerPoint</Application>
  <PresentationFormat>Custom</PresentationFormat>
  <Paragraphs>79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Arial Black</vt:lpstr>
      <vt:lpstr>Times New Roman</vt:lpstr>
      <vt:lpstr>Verdana</vt:lpstr>
      <vt:lpstr>Wingdings</vt:lpstr>
      <vt:lpstr>Office Theme</vt:lpstr>
      <vt:lpstr>UdbhavaX'26</vt:lpstr>
      <vt:lpstr>Problem Scenario</vt:lpstr>
      <vt:lpstr>Current Pain Points (Why it Breaks)</vt:lpstr>
      <vt:lpstr>Objectives &amp; Success Criteria</vt:lpstr>
      <vt:lpstr>Proposed Solution Strategy</vt:lpstr>
      <vt:lpstr>System Architecture</vt:lpstr>
      <vt:lpstr>Data Flow / Workflow</vt:lpstr>
      <vt:lpstr>Impact &amp; Benefits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UdbhavaX'26_slides_ref</dc:title>
  <dc:creator>Coding Club</dc:creator>
  <cp:keywords>DAG9RRHmMRA,BAGRFddF1s4,0</cp:keywords>
  <cp:lastModifiedBy>manojakula27@outlook.com</cp:lastModifiedBy>
  <cp:revision>3</cp:revision>
  <dcterms:created xsi:type="dcterms:W3CDTF">2026-04-06T05:38:24Z</dcterms:created>
  <dcterms:modified xsi:type="dcterms:W3CDTF">2026-04-06T06:22:13Z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2026-04-04T00:00:00Z</vt:filetime>
  </property>
  <property fmtid="{D5CDD505-2E9C-101B-9397-08002B2CF9AE}" pid="3" name="Creator">
    <vt:lpwstr>Canva</vt:lpwstr>
  </property>
  <property fmtid="{D5CDD505-2E9C-101B-9397-08002B2CF9AE}" pid="4" name="LastSaved">
    <vt:filetime>2026-04-06T00:00:00Z</vt:filetime>
  </property>
  <property fmtid="{D5CDD505-2E9C-101B-9397-08002B2CF9AE}" pid="5" name="Producer">
    <vt:lpwstr>Canva</vt:lpwstr>
  </property>
</Properties>
</file>